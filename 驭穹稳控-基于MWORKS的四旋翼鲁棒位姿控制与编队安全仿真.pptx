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72" r:id="rId6"/>
    <p:sldId id="273" r:id="rId7"/>
    <p:sldId id="274" r:id="rId8"/>
    <p:sldId id="27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96000" y="1014463"/>
            <a:ext cx="10800000" cy="0"/>
          </a:xfrm>
          <a:prstGeom prst="line">
            <a:avLst/>
          </a:prstGeom>
          <a:ln w="12700">
            <a:solidFill>
              <a:srgbClr val="3B46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797" y="367263"/>
            <a:ext cx="2112253" cy="56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.png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41983" y="1602683"/>
            <a:ext cx="9396184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MWORKS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四旋翼鲁棒位姿控制与编队安全仿真系统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434008" y="3320477"/>
            <a:ext cx="9238164" cy="309525"/>
            <a:chOff x="1593803" y="3560142"/>
            <a:chExt cx="9238164" cy="309525"/>
          </a:xfrm>
        </p:grpSpPr>
        <p:sp>
          <p:nvSpPr>
            <p:cNvPr id="8" name="文本占位符 2"/>
            <p:cNvSpPr txBox="1"/>
            <p:nvPr/>
          </p:nvSpPr>
          <p:spPr>
            <a:xfrm>
              <a:off x="3891728" y="3560142"/>
              <a:ext cx="4676174" cy="30952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 w="0"/>
                  <a:solidFill>
                    <a:prstClr val="white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方正公文小标宋" panose="02000500000000000000" charset="-122"/>
                  <a:ea typeface="方正公文小标宋" panose="02000500000000000000" charset="-122"/>
                  <a:cs typeface="+mn-cs"/>
                </a:rPr>
                <a:t>驭穹稳控团队</a:t>
              </a:r>
              <a:endParaRPr kumimoji="0" lang="zh-CN" altLang="en-US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1593803" y="3811524"/>
              <a:ext cx="2793365" cy="13970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V="1">
              <a:off x="7976372" y="3818587"/>
              <a:ext cx="2855595" cy="6985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2" descr="http://vi.xjtu.edu.cn/images/a4-5xbwhi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76" y="855825"/>
            <a:ext cx="2060848" cy="55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3230381" y="4365420"/>
            <a:ext cx="5731239" cy="16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cs typeface="+mn-cs"/>
              </a:rPr>
              <a:t>西安交通大学       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2026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年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7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月</a:t>
            </a:r>
            <a:endParaRPr lang="zh-CN" altLang="en-US" sz="2000" b="1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基于 MWORKS 的建模、仿真与性能分析</a:t>
            </a:r>
            <a:endParaRPr lang="zh-CN" altLang="en-US" sz="1600" b="1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68072" y="123952"/>
            <a:ext cx="566928" cy="566928"/>
          </a:xfrm>
          <a:prstGeom prst="ellipse">
            <a:avLst/>
          </a:prstGeom>
          <a:noFill/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48" y="160528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4728" y="151384"/>
            <a:ext cx="32004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中国软件杯 · A组赛题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65043" y="328398"/>
            <a:ext cx="627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选题背景：复杂场景下的稳定控制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12808" y="1080834"/>
            <a:ext cx="5311140" cy="32575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50" b="1">
                <a:solidFill>
                  <a:srgbClr val="606974"/>
                </a:solidFill>
                <a:latin typeface="微软雅黑" panose="020B0503020204020204" charset="-122"/>
              </a:rPr>
              <a:t>连续轨迹、工况变化与多机协同共同提高位姿控制难度。</a:t>
            </a:r>
            <a:endParaRPr sz="1650" b="1">
              <a:solidFill>
                <a:srgbClr val="606974"/>
              </a:solidFill>
              <a:latin typeface="微软雅黑" panose="020B0503020204020204" charset="-122"/>
            </a:endParaRPr>
          </a:p>
        </p:txBody>
      </p:sp>
      <p:sp>
        <p:nvSpPr>
          <p:cNvPr id="2" name="Rectangle 9"/>
          <p:cNvSpPr/>
          <p:nvPr>
            <p:custDataLst>
              <p:tags r:id="rId1"/>
            </p:custDataLst>
          </p:nvPr>
        </p:nvSpPr>
        <p:spPr>
          <a:xfrm>
            <a:off x="490538" y="1710055"/>
            <a:ext cx="82296" cy="9326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10"/>
          <p:cNvSpPr txBox="1"/>
          <p:nvPr>
            <p:custDataLst>
              <p:tags r:id="rId2"/>
            </p:custDataLst>
          </p:nvPr>
        </p:nvSpPr>
        <p:spPr>
          <a:xfrm>
            <a:off x="673418" y="1718945"/>
            <a:ext cx="260350" cy="2565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微软雅黑" panose="020B0503020204020204" charset="-122"/>
              </a:rPr>
              <a:t>01</a:t>
            </a:r>
            <a:endParaRPr sz="1200" b="1">
              <a:solidFill>
                <a:schemeClr val="tx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148906" y="1675638"/>
            <a:ext cx="1088390" cy="37973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空间轨迹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4" name="TextBox 12"/>
          <p:cNvSpPr txBox="1"/>
          <p:nvPr>
            <p:custDataLst>
              <p:tags r:id="rId4"/>
            </p:custDataLst>
          </p:nvPr>
        </p:nvSpPr>
        <p:spPr>
          <a:xfrm>
            <a:off x="673418" y="2156778"/>
            <a:ext cx="3571240" cy="2952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螺旋与八字轨迹带来连续转向和耦合运动。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673418" y="2606167"/>
            <a:ext cx="3246120" cy="10972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14"/>
          <p:cNvSpPr/>
          <p:nvPr>
            <p:custDataLst>
              <p:tags r:id="rId6"/>
            </p:custDataLst>
          </p:nvPr>
        </p:nvSpPr>
        <p:spPr>
          <a:xfrm>
            <a:off x="490538" y="2971927"/>
            <a:ext cx="82296" cy="9326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15"/>
          <p:cNvSpPr txBox="1"/>
          <p:nvPr>
            <p:custDataLst>
              <p:tags r:id="rId7"/>
            </p:custDataLst>
          </p:nvPr>
        </p:nvSpPr>
        <p:spPr>
          <a:xfrm>
            <a:off x="673418" y="2980817"/>
            <a:ext cx="260350" cy="2565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微软雅黑" panose="020B0503020204020204" charset="-122"/>
              </a:rPr>
              <a:t>02</a:t>
            </a:r>
            <a:endParaRPr sz="1200" b="1">
              <a:solidFill>
                <a:schemeClr val="tx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1148906" y="2937510"/>
            <a:ext cx="1088390" cy="37973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工况变化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673418" y="3418650"/>
            <a:ext cx="3387090" cy="2952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质量、升力和惯量变化会改变控制对象。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18"/>
          <p:cNvSpPr/>
          <p:nvPr>
            <p:custDataLst>
              <p:tags r:id="rId10"/>
            </p:custDataLst>
          </p:nvPr>
        </p:nvSpPr>
        <p:spPr>
          <a:xfrm>
            <a:off x="673418" y="3868039"/>
            <a:ext cx="3246120" cy="10972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9"/>
          <p:cNvSpPr/>
          <p:nvPr>
            <p:custDataLst>
              <p:tags r:id="rId11"/>
            </p:custDataLst>
          </p:nvPr>
        </p:nvSpPr>
        <p:spPr>
          <a:xfrm>
            <a:off x="490538" y="4233798"/>
            <a:ext cx="82296" cy="9326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20"/>
          <p:cNvSpPr txBox="1"/>
          <p:nvPr>
            <p:custDataLst>
              <p:tags r:id="rId12"/>
            </p:custDataLst>
          </p:nvPr>
        </p:nvSpPr>
        <p:spPr>
          <a:xfrm>
            <a:off x="673418" y="4242688"/>
            <a:ext cx="260350" cy="2565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微软雅黑" panose="020B0503020204020204" charset="-122"/>
              </a:rPr>
              <a:t>03</a:t>
            </a:r>
            <a:endParaRPr sz="1200" b="1">
              <a:solidFill>
                <a:schemeClr val="tx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21"/>
          <p:cNvSpPr txBox="1"/>
          <p:nvPr>
            <p:custDataLst>
              <p:tags r:id="rId13"/>
            </p:custDataLst>
          </p:nvPr>
        </p:nvSpPr>
        <p:spPr>
          <a:xfrm>
            <a:off x="1148906" y="4199382"/>
            <a:ext cx="1088390" cy="37973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多机协同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36" name="TextBox 22"/>
          <p:cNvSpPr txBox="1"/>
          <p:nvPr>
            <p:custDataLst>
              <p:tags r:id="rId14"/>
            </p:custDataLst>
          </p:nvPr>
        </p:nvSpPr>
        <p:spPr>
          <a:xfrm>
            <a:off x="673418" y="4680520"/>
            <a:ext cx="2834640" cy="2952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队形保持还需同时满足安全间距。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23"/>
          <p:cNvSpPr/>
          <p:nvPr>
            <p:custDataLst>
              <p:tags r:id="rId15"/>
            </p:custDataLst>
          </p:nvPr>
        </p:nvSpPr>
        <p:spPr>
          <a:xfrm>
            <a:off x="673418" y="5129910"/>
            <a:ext cx="3246120" cy="10972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24"/>
          <p:cNvSpPr/>
          <p:nvPr/>
        </p:nvSpPr>
        <p:spPr>
          <a:xfrm>
            <a:off x="4148138" y="1591183"/>
            <a:ext cx="7516368" cy="4242816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25" descr="P01_典型任务_01_典型任务.png"/>
          <p:cNvPicPr>
            <a:picLocks noChangeAspect="1"/>
          </p:cNvPicPr>
          <p:nvPr/>
        </p:nvPicPr>
        <p:blipFill>
          <a:blip r:embed="rId16"/>
          <a:srcRect l="14" r="14"/>
          <a:stretch>
            <a:fillRect/>
          </a:stretch>
        </p:blipFill>
        <p:spPr>
          <a:xfrm>
            <a:off x="4257866" y="1682623"/>
            <a:ext cx="7296912" cy="4105656"/>
          </a:xfrm>
          <a:prstGeom prst="rect">
            <a:avLst/>
          </a:prstGeom>
        </p:spPr>
      </p:pic>
      <p:sp>
        <p:nvSpPr>
          <p:cNvPr id="43" name="Rounded Rectangle 26"/>
          <p:cNvSpPr/>
          <p:nvPr/>
        </p:nvSpPr>
        <p:spPr>
          <a:xfrm>
            <a:off x="700850" y="6218047"/>
            <a:ext cx="10771632" cy="548640"/>
          </a:xfrm>
          <a:prstGeom prst="roundRect">
            <a:avLst/>
          </a:prstGeom>
          <a:solidFill>
            <a:srgbClr val="23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微软雅黑" panose="020B0503020204020204" charset="-122"/>
              </a:rPr>
              <a:t>需要同时兼顾</a:t>
            </a:r>
            <a:r>
              <a:rPr sz="2000" b="1">
                <a:solidFill>
                  <a:srgbClr val="FFC000"/>
                </a:solidFill>
                <a:latin typeface="微软雅黑" panose="020B0503020204020204" charset="-122"/>
              </a:rPr>
              <a:t>跟踪、适应与安全</a:t>
            </a:r>
            <a:r>
              <a:rPr sz="2000" b="1">
                <a:solidFill>
                  <a:schemeClr val="bg1"/>
                </a:solidFill>
                <a:latin typeface="微软雅黑" panose="020B0503020204020204" charset="-122"/>
              </a:rPr>
              <a:t>。</a:t>
            </a:r>
            <a:endParaRPr sz="20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63" name="Oval 2"/>
          <p:cNvSpPr/>
          <p:nvPr/>
        </p:nvSpPr>
        <p:spPr>
          <a:xfrm>
            <a:off x="151194" y="384048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3"/>
          <p:cNvSpPr txBox="1"/>
          <p:nvPr/>
        </p:nvSpPr>
        <p:spPr>
          <a:xfrm>
            <a:off x="213106" y="452057"/>
            <a:ext cx="333375" cy="302895"/>
          </a:xfrm>
          <a:prstGeom prst="rect">
            <a:avLst/>
          </a:prstGeom>
          <a:solidFill>
            <a:schemeClr val="tx2"/>
          </a:solidFill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65043" y="328398"/>
            <a:ext cx="80346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现有</a:t>
            </a:r>
            <a:r>
              <a:rPr lang="en-US" altLang="zh-CN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基线表现与 </a:t>
            </a:r>
            <a:r>
              <a:rPr lang="en-US" altLang="zh-CN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RA-GCA-CGHTE </a:t>
            </a: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改进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87283" y="1135888"/>
            <a:ext cx="7387590" cy="34925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E4D5F"/>
                </a:solidFill>
                <a:latin typeface="微软雅黑" panose="020B0503020204020204" charset="-122"/>
              </a:rPr>
              <a:t>在统一模型与场景下，对比瞬态、连续跟踪、参数适应与编队安全能力。</a:t>
            </a:r>
            <a:endParaRPr sz="1800" b="1">
              <a:solidFill>
                <a:srgbClr val="3E4D5F"/>
              </a:solidFill>
              <a:latin typeface="微软雅黑" panose="020B0503020204020204" charset="-122"/>
            </a:endParaRPr>
          </a:p>
        </p:txBody>
      </p:sp>
      <p:sp>
        <p:nvSpPr>
          <p:cNvPr id="2" name="Rectangle 9"/>
          <p:cNvSpPr/>
          <p:nvPr/>
        </p:nvSpPr>
        <p:spPr>
          <a:xfrm>
            <a:off x="198438" y="1653413"/>
            <a:ext cx="5650992" cy="3794760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7588" y="1739392"/>
            <a:ext cx="2472690" cy="39497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233E5B"/>
                </a:solidFill>
                <a:latin typeface="微软雅黑" panose="020B0503020204020204" charset="-122"/>
              </a:rPr>
              <a:t>现有基线表现与不足</a:t>
            </a:r>
            <a:endParaRPr sz="21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pic>
        <p:nvPicPr>
          <p:cNvPr id="12" name="Picture 11" descr="P02_现有PID三轴阶跃_FIG_2-3.png"/>
          <p:cNvPicPr>
            <a:picLocks noChangeAspect="1"/>
          </p:cNvPicPr>
          <p:nvPr/>
        </p:nvPicPr>
        <p:blipFill>
          <a:blip r:embed="rId1"/>
          <a:srcRect l="-1630" t="-1110" r="-2382" b="-3445"/>
          <a:stretch>
            <a:fillRect/>
          </a:stretch>
        </p:blipFill>
        <p:spPr>
          <a:xfrm>
            <a:off x="273685" y="2098675"/>
            <a:ext cx="3423920" cy="2758440"/>
          </a:xfrm>
          <a:prstGeom prst="rect">
            <a:avLst/>
          </a:prstGeom>
          <a:ln w="10160">
            <a:solidFill>
              <a:srgbClr val="CFD3D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661410" y="2359025"/>
            <a:ext cx="1882775" cy="2377440"/>
          </a:xfrm>
          <a:prstGeom prst="rect">
            <a:avLst/>
          </a:prstGeom>
          <a:noFill/>
        </p:spPr>
        <p:txBody>
          <a:bodyPr wrap="none" lIns="18288" tIns="18288" rIns="18288" bIns="18288">
            <a:no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阶跃超调约24%</a:t>
            </a:r>
          </a:p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固定增益，缺少</a:t>
            </a:r>
          </a:p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rPr lang="en-US"/>
              <a:t>    </a:t>
            </a:r>
            <a:r>
              <a:t>工况适应</a:t>
            </a:r>
          </a:p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10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无独立编队安全监督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678" y="5036693"/>
            <a:ext cx="4096512" cy="329184"/>
          </a:xfrm>
          <a:prstGeom prst="rect">
            <a:avLst/>
          </a:prstGeom>
          <a:solidFill>
            <a:srgbClr val="DE7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5809" y="5065586"/>
            <a:ext cx="3016250" cy="26225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PID / RA-GCA</a:t>
            </a:r>
            <a:r>
              <a:rPr lang="en-US" sz="1240" b="1">
                <a:solidFill>
                  <a:srgbClr val="FFFFFF"/>
                </a:solidFill>
                <a:latin typeface="微软雅黑" panose="020B0503020204020204" charset="-122"/>
              </a:rPr>
              <a:t>-</a:t>
            </a:r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Base：作为统一对照基线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54814" y="1653413"/>
            <a:ext cx="5650992" cy="3794760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9892" y="1739392"/>
            <a:ext cx="4140835" cy="39497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233E5B"/>
                </a:solidFill>
                <a:latin typeface="微软雅黑" panose="020B0503020204020204" charset="-122"/>
              </a:rPr>
              <a:t>RA-GCA-CGHTE + PP-CBF 改进</a:t>
            </a:r>
            <a:endParaRPr sz="21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pic>
        <p:nvPicPr>
          <p:cNvPr id="18" name="Picture 17" descr="P02_主算法综合结果_FIG_8-1.png"/>
          <p:cNvPicPr>
            <a:picLocks noChangeAspect="1"/>
          </p:cNvPicPr>
          <p:nvPr/>
        </p:nvPicPr>
        <p:blipFill>
          <a:blip r:embed="rId2"/>
          <a:srcRect l="25603"/>
          <a:stretch>
            <a:fillRect/>
          </a:stretch>
        </p:blipFill>
        <p:spPr>
          <a:xfrm>
            <a:off x="6504940" y="2098675"/>
            <a:ext cx="3777615" cy="2854960"/>
          </a:xfrm>
          <a:prstGeom prst="rect">
            <a:avLst/>
          </a:prstGeom>
          <a:ln w="10160">
            <a:solidFill>
              <a:srgbClr val="CFD3D8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0282555" y="2275205"/>
            <a:ext cx="2199005" cy="2280285"/>
          </a:xfrm>
          <a:prstGeom prst="rect">
            <a:avLst/>
          </a:prstGeom>
          <a:noFill/>
        </p:spPr>
        <p:txBody>
          <a:bodyPr wrap="none" lIns="18288" tIns="18288" rIns="18288" bIns="18288">
            <a:noAutofit/>
          </a:bodyPr>
          <a:lstStyle/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三轴超调</a:t>
            </a:r>
          </a:p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 </a:t>
            </a:r>
            <a:r>
              <a:rPr lang="en-US"/>
              <a:t>   </a:t>
            </a:r>
            <a:r>
              <a:t>0 / 0 / 1.98%</a:t>
            </a:r>
          </a:p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八字RMSE </a:t>
            </a:r>
          </a:p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 </a:t>
            </a:r>
            <a:r>
              <a:rPr lang="en-US"/>
              <a:t>   </a:t>
            </a:r>
            <a:r>
              <a:t>0.05174 m</a:t>
            </a:r>
          </a:p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▸ 风险暴露</a:t>
            </a:r>
          </a:p>
          <a:p>
            <a:pPr indent="0" fontAlgn="auto">
              <a:spcAft>
                <a:spcPts val="1300"/>
              </a:spcAft>
              <a:defRPr sz="1600" b="1">
                <a:solidFill>
                  <a:srgbClr val="C91322"/>
                </a:solidFill>
                <a:latin typeface="微软雅黑" panose="020B0503020204020204" charset="-122"/>
              </a:defRPr>
            </a:pPr>
            <a:r>
              <a:t> </a:t>
            </a:r>
            <a:r>
              <a:rPr lang="en-US"/>
              <a:t>   </a:t>
            </a:r>
            <a:r>
              <a:t>2.04 s → 0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32054" y="5036693"/>
            <a:ext cx="4096512" cy="329184"/>
          </a:xfrm>
          <a:prstGeom prst="rect">
            <a:avLst/>
          </a:prstGeom>
          <a:solidFill>
            <a:srgbClr val="DE7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7759" y="5065586"/>
            <a:ext cx="2705100" cy="26225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几何控制 + 推力估计 + 独立安全监督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5614734" y="3305937"/>
            <a:ext cx="713232" cy="438912"/>
          </a:xfrm>
          <a:prstGeom prst="rightArrow">
            <a:avLst/>
          </a:prstGeom>
          <a:solidFill>
            <a:srgbClr val="97121F"/>
          </a:solidFill>
          <a:ln>
            <a:solidFill>
              <a:srgbClr val="7A0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140" y="6042660"/>
            <a:ext cx="10429240" cy="548640"/>
          </a:xfrm>
          <a:prstGeom prst="roundRect">
            <a:avLst/>
          </a:prstGeom>
          <a:solidFill>
            <a:srgbClr val="23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改进价值集中在</a:t>
            </a:r>
            <a:r>
              <a:rPr b="1">
                <a:solidFill>
                  <a:srgbClr val="FFE25E"/>
                </a:solidFill>
                <a:latin typeface="微软雅黑" panose="020B0503020204020204" charset="-122"/>
              </a:rPr>
              <a:t>更小超调、连续跟踪、工况适应与独立安全监督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。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3" name="Oval 2"/>
          <p:cNvSpPr/>
          <p:nvPr/>
        </p:nvSpPr>
        <p:spPr>
          <a:xfrm>
            <a:off x="151194" y="384048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3"/>
          <p:cNvSpPr txBox="1"/>
          <p:nvPr/>
        </p:nvSpPr>
        <p:spPr>
          <a:xfrm>
            <a:off x="213106" y="452057"/>
            <a:ext cx="333375" cy="302895"/>
          </a:xfrm>
          <a:prstGeom prst="rect">
            <a:avLst/>
          </a:prstGeom>
          <a:solidFill>
            <a:schemeClr val="tx2"/>
          </a:solidFill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65043" y="328398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作品目标：跟踪、适应、监督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Oval 2"/>
          <p:cNvSpPr/>
          <p:nvPr/>
        </p:nvSpPr>
        <p:spPr>
          <a:xfrm>
            <a:off x="151194" y="384048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3"/>
          <p:cNvSpPr txBox="1"/>
          <p:nvPr/>
        </p:nvSpPr>
        <p:spPr>
          <a:xfrm>
            <a:off x="213106" y="452057"/>
            <a:ext cx="333375" cy="302895"/>
          </a:xfrm>
          <a:prstGeom prst="rect">
            <a:avLst/>
          </a:prstGeom>
          <a:solidFill>
            <a:schemeClr val="tx2"/>
          </a:solidFill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4573" y="1044004"/>
            <a:ext cx="4472940" cy="32575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50" b="1">
                <a:solidFill>
                  <a:srgbClr val="606974"/>
                </a:solidFill>
                <a:latin typeface="微软雅黑" panose="020B0503020204020204" charset="-122"/>
              </a:rPr>
              <a:t>双核心职责清晰分层，控制与安全各自可解释。</a:t>
            </a:r>
            <a:endParaRPr sz="1650" b="1">
              <a:solidFill>
                <a:srgbClr val="606974"/>
              </a:solidFill>
              <a:latin typeface="微软雅黑" panose="020B0503020204020204" charset="-122"/>
            </a:endParaRPr>
          </a:p>
        </p:txBody>
      </p:sp>
      <p:sp>
        <p:nvSpPr>
          <p:cNvPr id="2" name="Rectangle 9"/>
          <p:cNvSpPr/>
          <p:nvPr>
            <p:custDataLst>
              <p:tags r:id="rId1"/>
            </p:custDataLst>
          </p:nvPr>
        </p:nvSpPr>
        <p:spPr>
          <a:xfrm>
            <a:off x="223520" y="1673225"/>
            <a:ext cx="167640" cy="932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406400" y="1683068"/>
            <a:ext cx="275590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01</a:t>
            </a:r>
            <a:endParaRPr sz="12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81380" y="1639888"/>
            <a:ext cx="613410" cy="37973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跟踪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406400" y="2120900"/>
            <a:ext cx="2995295" cy="2952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完成位置、滚转与俯仰闭环控制。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13"/>
          <p:cNvSpPr/>
          <p:nvPr>
            <p:custDataLst>
              <p:tags r:id="rId5"/>
            </p:custDataLst>
          </p:nvPr>
        </p:nvSpPr>
        <p:spPr>
          <a:xfrm>
            <a:off x="406400" y="2569210"/>
            <a:ext cx="2809240" cy="76200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6"/>
            </p:custDataLst>
          </p:nvPr>
        </p:nvSpPr>
        <p:spPr>
          <a:xfrm>
            <a:off x="223520" y="2934970"/>
            <a:ext cx="167640" cy="932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406400" y="2944813"/>
            <a:ext cx="275590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02</a:t>
            </a:r>
            <a:endParaRPr sz="12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881380" y="2901633"/>
            <a:ext cx="613410" cy="37973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适应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06400" y="3382645"/>
            <a:ext cx="3385820" cy="2952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推力尺度估计用于应对升力效能变化。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0"/>
            </p:custDataLst>
          </p:nvPr>
        </p:nvSpPr>
        <p:spPr>
          <a:xfrm>
            <a:off x="406400" y="3823335"/>
            <a:ext cx="3158490" cy="83820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1"/>
            </p:custDataLst>
          </p:nvPr>
        </p:nvSpPr>
        <p:spPr>
          <a:xfrm>
            <a:off x="223520" y="4196715"/>
            <a:ext cx="167640" cy="932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406400" y="4206558"/>
            <a:ext cx="275590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03</a:t>
            </a:r>
            <a:endParaRPr sz="12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881380" y="4163378"/>
            <a:ext cx="613410" cy="37973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>
                <a:solidFill>
                  <a:srgbClr val="233E5B"/>
                </a:solidFill>
                <a:latin typeface="微软雅黑" panose="020B0503020204020204" charset="-122"/>
              </a:rPr>
              <a:t>监督</a:t>
            </a:r>
            <a:endParaRPr sz="20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406400" y="4644390"/>
            <a:ext cx="3775075" cy="2952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50" b="0">
                <a:solidFill>
                  <a:srgbClr val="28303A"/>
                </a:solidFill>
                <a:latin typeface="微软雅黑" panose="020B0503020204020204" charset="-122"/>
              </a:rPr>
              <a:t>独立修正编队参考，降低近距离交汇风险。</a:t>
            </a:r>
            <a:endParaRPr sz="14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5"/>
            </p:custDataLst>
          </p:nvPr>
        </p:nvSpPr>
        <p:spPr>
          <a:xfrm>
            <a:off x="406400" y="5093335"/>
            <a:ext cx="3402965" cy="76200"/>
          </a:xfrm>
          <a:prstGeom prst="rect">
            <a:avLst/>
          </a:prstGeom>
          <a:solidFill>
            <a:srgbClr val="CF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35083" y="1554353"/>
            <a:ext cx="7571231" cy="4242816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2863" y="1664271"/>
            <a:ext cx="3455670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三机状态 → 安全参考 → 单机主控制器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pic>
        <p:nvPicPr>
          <p:cNvPr id="27" name="Picture 26" descr="P02_PP-CBF分层结构_FIG_4-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90340" y="2137410"/>
            <a:ext cx="6796405" cy="336994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33515" y="6181217"/>
            <a:ext cx="10771632" cy="548640"/>
          </a:xfrm>
          <a:prstGeom prst="roundRect">
            <a:avLst/>
          </a:prstGeom>
          <a:solidFill>
            <a:srgbClr val="23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 panose="020B0503020204020204" charset="-122"/>
              </a:rPr>
              <a:t>RA-GCA-CGHTE负责单机控制；</a:t>
            </a:r>
            <a:r>
              <a:rPr sz="1550" b="1">
                <a:solidFill>
                  <a:srgbClr val="FFE25E"/>
                </a:solidFill>
                <a:latin typeface="微软雅黑" panose="020B0503020204020204" charset="-122"/>
              </a:rPr>
              <a:t>PP-CBF位于独立上层</a:t>
            </a:r>
            <a:r>
              <a:rPr sz="1550" b="1">
                <a:solidFill>
                  <a:srgbClr val="FFFFFF"/>
                </a:solidFill>
                <a:latin typeface="微软雅黑" panose="020B0503020204020204" charset="-122"/>
              </a:rPr>
              <a:t>。</a:t>
            </a:r>
            <a:endParaRPr sz="15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65043" y="328398"/>
            <a:ext cx="5872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系统结构：统一仿真与证据流程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Oval 2"/>
          <p:cNvSpPr/>
          <p:nvPr/>
        </p:nvSpPr>
        <p:spPr>
          <a:xfrm>
            <a:off x="151194" y="384048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3"/>
          <p:cNvSpPr txBox="1"/>
          <p:nvPr/>
        </p:nvSpPr>
        <p:spPr>
          <a:xfrm>
            <a:off x="213106" y="452057"/>
            <a:ext cx="333375" cy="302895"/>
          </a:xfrm>
          <a:prstGeom prst="rect">
            <a:avLst/>
          </a:prstGeom>
          <a:solidFill>
            <a:schemeClr val="tx2"/>
          </a:solidFill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4067" y="1145223"/>
            <a:ext cx="3120390" cy="31813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33E5B"/>
                </a:solidFill>
                <a:latin typeface="微软雅黑" panose="020B0503020204020204" charset="-122"/>
              </a:rPr>
              <a:t>同一物理模型与五种可替换控制器</a:t>
            </a:r>
            <a:endParaRPr sz="16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2" name="Rectangle 9"/>
          <p:cNvSpPr/>
          <p:nvPr/>
        </p:nvSpPr>
        <p:spPr>
          <a:xfrm>
            <a:off x="366078" y="1487170"/>
            <a:ext cx="7516368" cy="4526280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3_统一控制评价架构_FIG_3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94" y="1813042"/>
            <a:ext cx="7260336" cy="38562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9187" y="1145223"/>
            <a:ext cx="1291590" cy="31813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33E5B"/>
                </a:solidFill>
                <a:latin typeface="微软雅黑" panose="020B0503020204020204" charset="-122"/>
              </a:rPr>
              <a:t>统一证据流程</a:t>
            </a:r>
            <a:endParaRPr sz="160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38478" y="1551178"/>
            <a:ext cx="3493008" cy="621792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478" y="1551178"/>
            <a:ext cx="73152" cy="621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3070" y="1603502"/>
            <a:ext cx="2374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latin typeface="微软雅黑" panose="020B0503020204020204" charset="-122"/>
              </a:rPr>
              <a:t>01</a:t>
            </a:r>
            <a:endParaRPr sz="105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3694" y="1560513"/>
            <a:ext cx="859790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实验设置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18560" y="1598930"/>
            <a:ext cx="11391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1050" b="0">
                <a:solidFill>
                  <a:srgbClr val="28303A"/>
                </a:solidFill>
                <a:latin typeface="微软雅黑" panose="020B0503020204020204" charset="-122"/>
              </a:rPr>
              <a:t>模型、初值、参考</a:t>
            </a:r>
            <a:endParaRPr sz="10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9665526" y="2182113"/>
            <a:ext cx="420624" cy="201168"/>
          </a:xfrm>
          <a:prstGeom prst="downArrow">
            <a:avLst/>
          </a:prstGeom>
          <a:solidFill>
            <a:srgbClr val="60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478" y="2401570"/>
            <a:ext cx="3493008" cy="621792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478" y="2401570"/>
            <a:ext cx="73152" cy="621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3070" y="2453894"/>
            <a:ext cx="2374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latin typeface="微软雅黑" panose="020B0503020204020204" charset="-122"/>
              </a:rPr>
              <a:t>02</a:t>
            </a:r>
            <a:endParaRPr sz="105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23694" y="2410905"/>
            <a:ext cx="1386840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Sysplorer仿真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85210" y="2449322"/>
            <a:ext cx="127254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1050" b="0">
                <a:solidFill>
                  <a:srgbClr val="28303A"/>
                </a:solidFill>
                <a:latin typeface="微软雅黑" panose="020B0503020204020204" charset="-122"/>
              </a:rPr>
              <a:t>运行场景、导出数据</a:t>
            </a:r>
            <a:endParaRPr sz="10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9665526" y="3108706"/>
            <a:ext cx="420624" cy="201168"/>
          </a:xfrm>
          <a:prstGeom prst="downArrow">
            <a:avLst/>
          </a:prstGeom>
          <a:solidFill>
            <a:srgbClr val="60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478" y="3328162"/>
            <a:ext cx="3493008" cy="621792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478" y="3328162"/>
            <a:ext cx="73152" cy="621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3070" y="3380486"/>
            <a:ext cx="2374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latin typeface="微软雅黑" panose="020B0503020204020204" charset="-122"/>
              </a:rPr>
              <a:t>03</a:t>
            </a:r>
            <a:endParaRPr sz="105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23694" y="3337497"/>
            <a:ext cx="859790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数据检查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51860" y="3375914"/>
            <a:ext cx="14058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1050" b="0">
                <a:solidFill>
                  <a:srgbClr val="28303A"/>
                </a:solidFill>
                <a:latin typeface="微软雅黑" panose="020B0503020204020204" charset="-122"/>
              </a:rPr>
              <a:t>字段、单位、评价区间</a:t>
            </a:r>
            <a:endParaRPr sz="10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30" name="Down Arrow 29"/>
          <p:cNvSpPr/>
          <p:nvPr/>
        </p:nvSpPr>
        <p:spPr>
          <a:xfrm>
            <a:off x="9665526" y="4020058"/>
            <a:ext cx="420624" cy="201168"/>
          </a:xfrm>
          <a:prstGeom prst="downArrow">
            <a:avLst/>
          </a:prstGeom>
          <a:solidFill>
            <a:srgbClr val="60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478" y="4239514"/>
            <a:ext cx="3493008" cy="621792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478" y="4239514"/>
            <a:ext cx="73152" cy="621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3070" y="4291838"/>
            <a:ext cx="2374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latin typeface="微软雅黑" panose="020B0503020204020204" charset="-122"/>
              </a:rPr>
              <a:t>04</a:t>
            </a:r>
            <a:endParaRPr sz="105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23694" y="4248848"/>
            <a:ext cx="1091565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Syslab分析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451910" y="4287266"/>
            <a:ext cx="100584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1050" b="0">
                <a:solidFill>
                  <a:srgbClr val="28303A"/>
                </a:solidFill>
                <a:latin typeface="微软雅黑" panose="020B0503020204020204" charset="-122"/>
              </a:rPr>
              <a:t>指标计算与对比</a:t>
            </a:r>
            <a:endParaRPr sz="10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9665526" y="4931410"/>
            <a:ext cx="420624" cy="201168"/>
          </a:xfrm>
          <a:prstGeom prst="downArrow">
            <a:avLst/>
          </a:prstGeom>
          <a:solidFill>
            <a:srgbClr val="60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478" y="5150866"/>
            <a:ext cx="3493008" cy="621792"/>
          </a:xfrm>
          <a:prstGeom prst="rect">
            <a:avLst/>
          </a:prstGeom>
          <a:solidFill>
            <a:srgbClr val="F7F8F9"/>
          </a:solidFill>
          <a:ln w="10160">
            <a:solidFill>
              <a:srgbClr val="CF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478" y="5150866"/>
            <a:ext cx="73152" cy="621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3070" y="5203190"/>
            <a:ext cx="2374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latin typeface="微软雅黑" panose="020B0503020204020204" charset="-122"/>
              </a:rPr>
              <a:t>05</a:t>
            </a:r>
            <a:endParaRPr sz="105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23694" y="5160201"/>
            <a:ext cx="859790" cy="31051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>
                <a:solidFill>
                  <a:srgbClr val="233E5B"/>
                </a:solidFill>
                <a:latin typeface="微软雅黑" panose="020B0503020204020204" charset="-122"/>
              </a:rPr>
              <a:t>结果展示</a:t>
            </a:r>
            <a:endParaRPr sz="1550" b="1">
              <a:solidFill>
                <a:srgbClr val="233E5B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18560" y="5198618"/>
            <a:ext cx="1139190" cy="233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1050" b="0">
                <a:solidFill>
                  <a:srgbClr val="28303A"/>
                </a:solidFill>
                <a:latin typeface="微软雅黑" panose="020B0503020204020204" charset="-122"/>
              </a:rPr>
              <a:t>曲线、表格与结论</a:t>
            </a:r>
            <a:endParaRPr sz="1050" b="0">
              <a:solidFill>
                <a:srgbClr val="28303A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13550" y="6269482"/>
            <a:ext cx="10771632" cy="548640"/>
          </a:xfrm>
          <a:prstGeom prst="roundRect">
            <a:avLst/>
          </a:prstGeom>
          <a:solidFill>
            <a:srgbClr val="23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550" b="1">
                <a:solidFill>
                  <a:srgbClr val="FFE25E"/>
                </a:solidFill>
                <a:latin typeface="微软雅黑" panose="020B0503020204020204" charset="-122"/>
              </a:rPr>
              <a:t>同一模型、同一场景、同一采样周期、同一评价区间</a:t>
            </a:r>
            <a:r>
              <a:rPr sz="1550" b="1">
                <a:solidFill>
                  <a:srgbClr val="FFFFFF"/>
                </a:solidFill>
                <a:latin typeface="微软雅黑" panose="020B0503020204020204" charset="-122"/>
              </a:rPr>
              <a:t>。</a:t>
            </a:r>
            <a:endParaRPr sz="15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41805" y="1512570"/>
            <a:ext cx="9396095" cy="1768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感谢评审老师观看与指导</a:t>
            </a:r>
            <a:endParaRPr kumimoji="1" lang="zh-CN" altLang="en-US" sz="4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MWORKS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四旋翼鲁棒位姿控制与编队安全仿真系统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434008" y="3792917"/>
            <a:ext cx="9238164" cy="309525"/>
            <a:chOff x="1593803" y="3560142"/>
            <a:chExt cx="9238164" cy="309525"/>
          </a:xfrm>
        </p:grpSpPr>
        <p:sp>
          <p:nvSpPr>
            <p:cNvPr id="8" name="文本占位符 2"/>
            <p:cNvSpPr txBox="1"/>
            <p:nvPr/>
          </p:nvSpPr>
          <p:spPr>
            <a:xfrm>
              <a:off x="3891728" y="3560142"/>
              <a:ext cx="4676174" cy="30952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 w="0"/>
                  <a:solidFill>
                    <a:prstClr val="white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方正公文小标宋" panose="02000500000000000000" charset="-122"/>
                  <a:ea typeface="方正公文小标宋" panose="02000500000000000000" charset="-122"/>
                  <a:cs typeface="+mn-cs"/>
                </a:rPr>
                <a:t>驭穹稳控团队</a:t>
              </a:r>
              <a:endParaRPr kumimoji="0" lang="zh-CN" altLang="en-US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1593803" y="3811524"/>
              <a:ext cx="2793365" cy="13970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V="1">
              <a:off x="7976372" y="3818587"/>
              <a:ext cx="2855595" cy="6985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2" descr="http://vi.xjtu.edu.cn/images/a4-5xbwhi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76" y="855825"/>
            <a:ext cx="2060848" cy="55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3230381" y="4365420"/>
            <a:ext cx="5731239" cy="16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cs typeface="+mn-cs"/>
              </a:rPr>
              <a:t>西安交通大学       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2026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年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7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月</a:t>
            </a:r>
            <a:endParaRPr lang="zh-CN" altLang="en-US" sz="2000" b="1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基于 MWORKS 的建模、仿真与性能分析</a:t>
            </a:r>
            <a:endParaRPr lang="zh-CN" altLang="en-US" sz="1600" b="1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panose="02000500000000000000" charset="-122"/>
              <a:ea typeface="方正公文小标宋" panose="02000500000000000000" charset="-122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68072" y="123952"/>
            <a:ext cx="566928" cy="566928"/>
          </a:xfrm>
          <a:prstGeom prst="ellipse">
            <a:avLst/>
          </a:prstGeom>
          <a:noFill/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48" y="160528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4728" y="151384"/>
            <a:ext cx="32004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中国软件杯 · A组赛题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2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3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4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5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6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7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8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9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0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1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2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3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4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5.xml><?xml version="1.0" encoding="utf-8"?>
<p:tagLst xmlns:p="http://schemas.openxmlformats.org/presentationml/2006/main">
  <p:tag name="KSO_WM_DIAGRAM_VIRTUALLY_FRAME" val="{&quot;height&quot;:274.8699212598425,&quot;left&quot;:38.62503937007874,&quot;top&quot;:131.94,&quot;width&quot;:295.6}"/>
</p:tagLst>
</file>

<file path=ppt/tags/tag16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17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18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19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0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1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2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3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4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5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6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7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8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29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ags/tag30.xml><?xml version="1.0" encoding="utf-8"?>
<p:tagLst xmlns:p="http://schemas.openxmlformats.org/presentationml/2006/main">
  <p:tag name="KSO_WM_DIAGRAM_VIRTUALLY_FRAME" val="{&quot;height&quot;:290.125,&quot;left&quot;:17.57503937007874,&quot;top&quot;:116.925,&quot;width&quot;:311.6749606299212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Arial Blac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WPS 演示</Application>
  <PresentationFormat>宽屏</PresentationFormat>
  <Paragraphs>153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Times New Roman</vt:lpstr>
      <vt:lpstr>方正公文小标宋</vt:lpstr>
      <vt:lpstr>Arial Black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Vincent</cp:lastModifiedBy>
  <cp:revision>158</cp:revision>
  <dcterms:created xsi:type="dcterms:W3CDTF">2019-06-19T02:08:00Z</dcterms:created>
  <dcterms:modified xsi:type="dcterms:W3CDTF">2026-07-17T17:21:03Z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41C1474074AB4EF19D1E60767E21B014_11</vt:lpwstr>
  </property>
</Properties>
</file>