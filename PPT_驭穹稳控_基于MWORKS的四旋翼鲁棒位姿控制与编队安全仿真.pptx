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69" r:id="rId19"/>
    <p:sldId id="272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仿真报告封面与第3章</a:t>
            </a:r>
          </a:p>
          <a:p>
            <a:r>
              <a:t>- ARDG-RGPC公开算法名称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图5-1 代表性任务的参考输入</a:t>
            </a:r>
          </a:p>
          <a:p>
            <a:r>
              <a:t>- 正式提交包场景索引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图6-1 ARDG-RGPC阶跃响应与超调结果</a:t>
            </a:r>
          </a:p>
          <a:p>
            <a:r>
              <a:t>- 图6-3 典型轨迹</a:t>
            </a:r>
          </a:p>
          <a:p>
            <a:r>
              <a:t>- 图5-2 参数变化设计点</a:t>
            </a:r>
          </a:p>
          <a:p>
            <a:r>
              <a:t>- 图4-1 编队与PP-CBF结构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图3-2 ARDG-RGPC与物理模型顶层连接</a:t>
            </a:r>
          </a:p>
          <a:p>
            <a:r>
              <a:t>- 图5-3 仿真数据处理与结果分析流程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图8-1 不同任务中的主要结果与性能取舍</a:t>
            </a:r>
          </a:p>
          <a:p>
            <a:r>
              <a:t>- 表6-5 回归复核</a:t>
            </a:r>
          </a:p>
          <a:p>
            <a:r>
              <a:t>- 表8-1 工程验证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图3-1 ARDG-RGPC控制主链、角残差补偿支链与安全旁路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图6-6 ARDG-RGPC参数优化过程与最终定型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图6-1 官方PID与ARDG-RGPC三轴阶跃响应</a:t>
            </a:r>
          </a:p>
          <a:p>
            <a:r>
              <a:t>- 图6-4 五种算法共同任务位置RMSE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图6-5 参数变化下的预设工况与随机配对结果</a:t>
            </a:r>
          </a:p>
          <a:p>
            <a:r>
              <a:t>- 20组随机参数同条件对照统计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图6-7 两个机体系角扰动场景的姿态、补偿与守卫状态</a:t>
            </a:r>
          </a:p>
          <a:p>
            <a:r>
              <a:t>- 角扰动性能取舍说明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图6-8 ARDG-RGPC与官方PID在三事件外力扰动下的位置恢复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图6-9 五相位风扰与五相位传感器退化</a:t>
            </a:r>
          </a:p>
          <a:p>
            <a:r>
              <a:t>- 图D-2 六组复合参数与外扰响应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图7-1 ARDG-RGPC三机队形变换</a:t>
            </a:r>
          </a:p>
          <a:p>
            <a:r>
              <a:t>- 图7-2 PP-CBF近距离交汇风险抑制</a:t>
            </a:r>
          </a:p>
          <a:p>
            <a:r>
              <a:t>- 正常编队正式复算指标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图6-7 两个角扰动场景的角残差、补偿与守卫状态</a:t>
            </a:r>
          </a:p>
          <a:p>
            <a:r>
              <a:t>- 图6-1 ARDG-RGPC基础阶跃响应与超调结果</a:t>
            </a:r>
          </a:p>
          <a:p>
            <a:r>
              <a:t>- 图E-1 PP-CBF介入状态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- 20组随机参数同条件对照验证正式统计图与结果记录</a:t>
            </a:r>
          </a:p>
          <a:p>
            <a:r>
              <a:t>- 三事件外力扰动正式结果图</a:t>
            </a:r>
          </a:p>
          <a:p>
            <a:r>
              <a:t>- 两个新增角扰动场景正式结果图</a:t>
            </a:r>
          </a:p>
          <a:p>
            <a:r>
              <a:t>- 三机编队与PP-CBF正式结果图</a:t>
            </a:r>
          </a:p>
          <a:p>
            <a:r>
              <a:t>- 18项代表性回归、代码生成与Step(void)计时正式记录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表6-5 ARDG-RGPC代表性回归与工程约束复核</a:t>
            </a:r>
          </a:p>
          <a:p>
            <a:r>
              <a:t>- 表8-1 ARDG-RGPC生成代码、函数计时与安全集成验证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仿真报告第6章、第7章和第8章综合结论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  <p:pic>
        <p:nvPicPr>
          <p:cNvPr id="5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2" name="直接连接符 1"/>
          <p:cNvSpPr>
            <a:spLocks noGrp="1"/>
          </p:cNvSpPr>
          <p:nvPr/>
        </p:nvSpPr>
        <p:spPr>
          <a:xfrm>
            <a:off x="696000" y="1014463"/>
            <a:ext cx="10800000" cy="0"/>
          </a:xfrm>
          <a:prstGeom prst="line">
            <a:avLst/>
          </a:prstGeom>
          <a:ln w="12700">
            <a:solidFill>
              <a:srgbClr val="3B46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63797" y="367263"/>
            <a:ext cx="2112253" cy="5657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/>
      <p:pic>
        <p:nvPicPr>
          <p:cNvPr id="2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1741983" y="1602683"/>
            <a:ext cx="9396184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gradFill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3200" b="1" i="0" u="none" cap="none" spc="0">
                <a:ln>
                  <a:noFill/>
                </a:ln>
                <a:gradFill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MWORKS</a:t>
            </a:r>
            <a:r>
              <a:rPr sz="3200" b="1" i="0" u="none" cap="none" spc="0">
                <a:ln>
                  <a:noFill/>
                </a:ln>
                <a:gradFill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endParaRPr sz="3200" b="1" i="0" u="none" kern="1200" cap="none" spc="0" baseline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gradFill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四旋翼鲁棒位姿控制与编队安全仿真系统</a:t>
            </a:r>
            <a:endParaRPr sz="3200" b="1" i="0" u="none" kern="1200" cap="none" spc="0" baseline="0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占位符 2"/>
          <p:cNvSpPr>
            <a:spLocks noGrp="1"/>
          </p:cNvSpPr>
          <p:nvPr/>
        </p:nvSpPr>
        <p:spPr>
          <a:xfrm>
            <a:off x="3731933" y="3320477"/>
            <a:ext cx="4676174" cy="3095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</a:pPr>
            <a:r>
              <a:rPr b="1" i="0" u="none" cap="none" spc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/>
                <a:ea typeface="方正公文小标宋"/>
                <a:cs typeface="方正公文小标宋"/>
              </a:rPr>
              <a:t>驭穹稳控团队</a:t>
            </a:r>
            <a:endParaRPr b="1" i="0" u="none" kern="1200" cap="none" spc="0" baseline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公文小标宋"/>
              <a:ea typeface="方正公文小标宋"/>
              <a:cs typeface="方正公文小标宋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 flipV="1">
            <a:off x="1434008" y="3571859"/>
            <a:ext cx="2793365" cy="13970"/>
          </a:xfrm>
          <a:prstGeom prst="line">
            <a:avLst/>
          </a:prstGeom>
          <a:ln>
            <a:solidFill>
              <a:srgbClr val="F3D1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/>
          <p:cNvSpPr>
            <a:spLocks noGrp="1"/>
          </p:cNvSpPr>
          <p:nvPr/>
        </p:nvSpPr>
        <p:spPr>
          <a:xfrm flipV="1">
            <a:off x="7816577" y="3578922"/>
            <a:ext cx="2855595" cy="6985"/>
          </a:xfrm>
          <a:prstGeom prst="line">
            <a:avLst/>
          </a:prstGeom>
          <a:ln>
            <a:solidFill>
              <a:srgbClr val="F3D1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65576" y="855825"/>
            <a:ext cx="2060848" cy="551974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3230381" y="4365420"/>
            <a:ext cx="5731239" cy="167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/>
                <a:ea typeface="方正公文小标宋"/>
                <a:cs typeface="方正公文小标宋"/>
              </a:rPr>
              <a:t>西安交通大学       </a:t>
            </a:r>
            <a:r>
              <a:rPr sz="2000" b="1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/>
                <a:ea typeface="方正公文小标宋"/>
                <a:cs typeface="方正公文小标宋"/>
              </a:rPr>
              <a:t>2026年8月</a:t>
            </a:r>
            <a:endParaRPr sz="2000" b="1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公文小标宋"/>
              <a:ea typeface="方正公文小标宋"/>
              <a:cs typeface="方正公文小标宋"/>
            </a:endParaRPr>
          </a:p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1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公文小标宋"/>
                <a:ea typeface="方正公文小标宋"/>
                <a:cs typeface="方正公文小标宋"/>
              </a:rPr>
              <a:t>决赛答辩 · MWORKS仿真 · 工程验证</a:t>
            </a:r>
            <a:endParaRPr sz="1600" b="1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公文小标宋"/>
              <a:ea typeface="方正公文小标宋"/>
              <a:cs typeface="方正公文小标宋"/>
            </a:endParaRPr>
          </a:p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1" i="0" u="none" kern="1200" cap="none" spc="0" baseline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公文小标宋"/>
              <a:ea typeface="方正公文小标宋"/>
              <a:cs typeface="方正公文小标宋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 w="0"/>
              <a:solidFill>
                <a:prstClr val="white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公文小标宋"/>
              <a:ea typeface="方正公文小标宋"/>
              <a:cs typeface="方正公文小标宋"/>
            </a:endParaRPr>
          </a:p>
        </p:txBody>
      </p:sp>
      <p:sp>
        <p:nvSpPr>
          <p:cNvPr id="4" name="Oval 3"/>
          <p:cNvSpPr>
            <a:spLocks noGrp="1"/>
          </p:cNvSpPr>
          <p:nvPr/>
        </p:nvSpPr>
        <p:spPr>
          <a:xfrm>
            <a:off x="68072" y="123952"/>
            <a:ext cx="566928" cy="566928"/>
          </a:xfrm>
          <a:prstGeom prst="ellipse">
            <a:avLst/>
          </a:prstGeom>
          <a:noFill/>
          <a:ln w="215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04648" y="160528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44728" y="151384"/>
            <a:ext cx="32004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中国软件杯 · A组赛题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24150" y="2781300"/>
            <a:ext cx="674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75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角残差驱动守卫型鲁棒几何位姿控制（ARDG-RGPC）</a:t>
            </a:r>
            <a:endParaRPr sz="1275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02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02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02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答辩导览：任务、方法、验证与结论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02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作品介绍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02_副标题"/>
          <p:cNvSpPr>
            <a:spLocks noGrp="1"/>
          </p:cNvSpPr>
          <p:nvPr/>
        </p:nvSpPr>
        <p:spPr>
          <a:xfrm>
            <a:off x="1857375" y="1035685"/>
            <a:ext cx="8572500" cy="233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6先说明作品做什么，再回答性能</a:t>
            </a: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</a:t>
            </a:r>
            <a:endParaRPr sz="10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02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底部结论"/>
          <p:cNvSpPr>
            <a:spLocks noGrp="1"/>
          </p:cNvSpPr>
          <p:nvPr/>
        </p:nvSpPr>
        <p:spPr>
          <a:xfrm>
            <a:off x="666750" y="6164898"/>
            <a:ext cx="10858500" cy="25082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/>
              <a:t>作品覆盖</a:t>
            </a:r>
            <a:r>
              <a:rPr sz="1400" b="1">
                <a:solidFill>
                  <a:srgbClr val="FFC000"/>
                </a:solidFill>
              </a:rPr>
              <a:t>单机控制、复杂工况与三机安全</a:t>
            </a:r>
            <a:r>
              <a:rPr sz="1400"/>
              <a:t>，决赛重点</a:t>
            </a:r>
            <a:r>
              <a:rPr lang="zh-CN" sz="1400"/>
              <a:t>新增</a:t>
            </a:r>
            <a:r>
              <a:rPr sz="1400"/>
              <a:t>ARDG-RGPC新增成果</a:t>
            </a:r>
            <a:endParaRPr sz="1400"/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48285" y="1295400"/>
            <a:ext cx="6876415" cy="45389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89" name="图片 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363980"/>
            <a:ext cx="6277610" cy="4375150"/>
          </a:xfrm>
          <a:prstGeom prst="rect">
            <a:avLst/>
          </a:prstGeom>
        </p:spPr>
      </p:pic>
      <p:sp>
        <p:nvSpPr>
          <p:cNvPr id="48" name="矩形 47"/>
          <p:cNvSpPr>
            <a:spLocks noGrp="1"/>
          </p:cNvSpPr>
          <p:nvPr/>
        </p:nvSpPr>
        <p:spPr>
          <a:xfrm>
            <a:off x="621665" y="5862320"/>
            <a:ext cx="638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标准阶跃、螺旋爬升、定点悬停与8字轨迹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524750" y="1524000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524750" y="1524000"/>
            <a:ext cx="85725" cy="6096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696200" y="16192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191500" y="160020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作品功能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191500" y="1866900"/>
            <a:ext cx="3257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完成哪些控制与安全任务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524750" y="2266950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524750" y="2266950"/>
            <a:ext cx="85725" cy="6096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696200" y="23622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191500" y="23431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控制方法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191500" y="2609850"/>
            <a:ext cx="3257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ARDG-RGPC如何处理角残差与参数变化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524750" y="3009900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524750" y="3009900"/>
            <a:ext cx="85725" cy="6096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696200" y="31051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0" y="308610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仿真验证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191500" y="3352800"/>
            <a:ext cx="3257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同模型、同输入、同评价方法下比较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7524750" y="3752850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7524750" y="3752850"/>
            <a:ext cx="85725" cy="6096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7696200" y="38481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191500" y="38290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工程结果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191500" y="4095750"/>
            <a:ext cx="3257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回归、代码生成、计时与安全检查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7524750" y="4648200"/>
            <a:ext cx="1952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524750" y="4648200"/>
            <a:ext cx="85725" cy="8572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7734300" y="4724400"/>
            <a:ext cx="1647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正式验证覆盖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734300" y="4943475"/>
            <a:ext cx="16478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34个正式场景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734300" y="5314950"/>
            <a:ext cx="1647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基础任务、扰动、编队与工程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9667875" y="4648200"/>
            <a:ext cx="1952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9667875" y="4648200"/>
            <a:ext cx="85725" cy="8572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9877425" y="4724400"/>
            <a:ext cx="1647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核心统计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9877425" y="4943475"/>
            <a:ext cx="16478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20组随机参数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9877425" y="5314950"/>
            <a:ext cx="1647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同条件对照验证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03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03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03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作品核心功能：控制、跟踪、适应与安全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03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作品与价值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03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四类能力均由正式模型、场景和结果证据支撑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03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底部结论"/>
          <p:cNvSpPr>
            <a:spLocks noGrp="1"/>
          </p:cNvSpPr>
          <p:nvPr/>
        </p:nvSpPr>
        <p:spPr>
          <a:xfrm>
            <a:off x="666750" y="6162993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功能完整性来自</a:t>
            </a:r>
            <a:r>
              <a:rPr sz="1600" b="1">
                <a:solidFill>
                  <a:srgbClr val="FFC000"/>
                </a:solidFill>
              </a:rPr>
              <a:t>真实模型、真实场景和统一指标</a:t>
            </a:r>
            <a:r>
              <a:rPr sz="1600"/>
              <a:t>，演示</a:t>
            </a:r>
            <a:r>
              <a:rPr sz="1600"/>
              <a:t>内容</a:t>
            </a:r>
            <a:r>
              <a:rPr sz="1600"/>
              <a:t>丰富</a:t>
            </a:r>
            <a:endParaRPr sz="1600"/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71500" y="1524000"/>
            <a:ext cx="54292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71500" y="1524000"/>
            <a:ext cx="85725" cy="19050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pic>
        <p:nvPicPr>
          <p:cNvPr id="68" name="图片 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20" y="1548130"/>
            <a:ext cx="2915920" cy="1810385"/>
          </a:xfrm>
          <a:prstGeom prst="rect">
            <a:avLst/>
          </a:prstGeom>
        </p:spPr>
      </p:pic>
      <p:sp>
        <p:nvSpPr>
          <p:cNvPr id="37" name="矩形 36"/>
          <p:cNvSpPr>
            <a:spLocks noGrp="1"/>
          </p:cNvSpPr>
          <p:nvPr/>
        </p:nvSpPr>
        <p:spPr>
          <a:xfrm>
            <a:off x="4090035" y="184785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5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位姿控制</a:t>
            </a:r>
            <a:endParaRPr sz="1575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090035" y="2343150"/>
            <a:ext cx="195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ARDG-RGPC阶跃响应与超调结果</a:t>
            </a:r>
            <a:endParaRPr sz="109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191250" y="1524000"/>
            <a:ext cx="54292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191250" y="1524000"/>
            <a:ext cx="85725" cy="19050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pic>
        <p:nvPicPr>
          <p:cNvPr id="73" name="图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335" y="1602105"/>
            <a:ext cx="2716530" cy="1837690"/>
          </a:xfrm>
          <a:prstGeom prst="rect">
            <a:avLst/>
          </a:prstGeom>
        </p:spPr>
      </p:pic>
      <p:sp>
        <p:nvSpPr>
          <p:cNvPr id="42" name="矩形 41"/>
          <p:cNvSpPr>
            <a:spLocks noGrp="1"/>
          </p:cNvSpPr>
          <p:nvPr/>
        </p:nvSpPr>
        <p:spPr>
          <a:xfrm>
            <a:off x="9763125" y="184785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5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连续轨迹</a:t>
            </a:r>
            <a:endParaRPr sz="1575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763125" y="2343150"/>
            <a:ext cx="195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螺旋爬升与8字轨迹</a:t>
            </a:r>
            <a:endParaRPr sz="109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71500" y="3714750"/>
            <a:ext cx="54292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71500" y="3714750"/>
            <a:ext cx="85725" cy="19050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pic>
        <p:nvPicPr>
          <p:cNvPr id="78" name="图片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808095"/>
            <a:ext cx="3456305" cy="1786255"/>
          </a:xfrm>
          <a:prstGeom prst="rect">
            <a:avLst/>
          </a:prstGeom>
        </p:spPr>
      </p:pic>
      <p:sp>
        <p:nvSpPr>
          <p:cNvPr id="47" name="矩形 46"/>
          <p:cNvSpPr>
            <a:spLocks noGrp="1"/>
          </p:cNvSpPr>
          <p:nvPr/>
        </p:nvSpPr>
        <p:spPr>
          <a:xfrm>
            <a:off x="4090035" y="403860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5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工况适应</a:t>
            </a:r>
            <a:endParaRPr sz="1575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090035" y="4533900"/>
            <a:ext cx="195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推力尺度校正与参数变化验证</a:t>
            </a:r>
            <a:endParaRPr sz="109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191250" y="3714750"/>
            <a:ext cx="54292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191250" y="3714750"/>
            <a:ext cx="85725" cy="19050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pic>
        <p:nvPicPr>
          <p:cNvPr id="83" name="图片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3802380"/>
            <a:ext cx="3410585" cy="1758950"/>
          </a:xfrm>
          <a:prstGeom prst="rect">
            <a:avLst/>
          </a:prstGeom>
        </p:spPr>
      </p:pic>
      <p:sp>
        <p:nvSpPr>
          <p:cNvPr id="52" name="矩形 51"/>
          <p:cNvSpPr>
            <a:spLocks noGrp="1"/>
          </p:cNvSpPr>
          <p:nvPr/>
        </p:nvSpPr>
        <p:spPr>
          <a:xfrm>
            <a:off x="9763125" y="403860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5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编队安全</a:t>
            </a:r>
            <a:endParaRPr sz="1575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763125" y="4533900"/>
            <a:ext cx="1952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三机控制与独立PP-CBF监督</a:t>
            </a:r>
            <a:endParaRPr sz="109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04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04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04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统一系统架构与仿真分析流程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04_章节"/>
          <p:cNvSpPr>
            <a:spLocks noGrp="1"/>
          </p:cNvSpPr>
          <p:nvPr/>
        </p:nvSpPr>
        <p:spPr>
          <a:xfrm>
            <a:off x="731520" y="1017016"/>
            <a:ext cx="1225296" cy="233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</a:t>
            </a:r>
            <a:r>
              <a:rPr sz="105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04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控制器共享同一物理模型、任务输入、采样设置和评价方法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04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底部结论"/>
          <p:cNvSpPr>
            <a:spLocks noGrp="1"/>
          </p:cNvSpPr>
          <p:nvPr/>
        </p:nvSpPr>
        <p:spPr>
          <a:xfrm>
            <a:off x="666750" y="6136323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统一条件保证比较回答的是</a:t>
            </a:r>
            <a:r>
              <a:rPr sz="1600" b="1">
                <a:solidFill>
                  <a:srgbClr val="FFC000"/>
                </a:solidFill>
              </a:rPr>
              <a:t>控制方法差异</a:t>
            </a:r>
            <a:r>
              <a:rPr sz="1600"/>
              <a:t>，而不是模型或统计口径差异</a:t>
            </a:r>
            <a:endParaRPr sz="1600"/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57150" y="1504950"/>
            <a:ext cx="665099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92" name="图片 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406" y="1581150"/>
            <a:ext cx="5768788" cy="3771900"/>
          </a:xfrm>
          <a:prstGeom prst="rect">
            <a:avLst/>
          </a:prstGeom>
        </p:spPr>
      </p:pic>
      <p:sp>
        <p:nvSpPr>
          <p:cNvPr id="62" name="矩形 61"/>
          <p:cNvSpPr>
            <a:spLocks noGrp="1"/>
          </p:cNvSpPr>
          <p:nvPr/>
        </p:nvSpPr>
        <p:spPr>
          <a:xfrm>
            <a:off x="619125" y="5334000"/>
            <a:ext cx="666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ARDG-RGPC与Sysplorer四旋翼物理模型的顶层连接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6879590" y="1310640"/>
            <a:ext cx="5312410" cy="267017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95" name="图片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890" y="1850390"/>
            <a:ext cx="5198110" cy="1445895"/>
          </a:xfrm>
          <a:prstGeom prst="rect">
            <a:avLst/>
          </a:prstGeom>
        </p:spPr>
      </p:pic>
      <p:sp>
        <p:nvSpPr>
          <p:cNvPr id="65" name="矩形 64"/>
          <p:cNvSpPr>
            <a:spLocks noGrp="1"/>
          </p:cNvSpPr>
          <p:nvPr/>
        </p:nvSpPr>
        <p:spPr>
          <a:xfrm>
            <a:off x="7686675" y="3714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设置、仿真、检查、计算与展示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667625" y="4171950"/>
            <a:ext cx="4000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667625" y="4171950"/>
            <a:ext cx="85725" cy="5524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839075" y="426720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334375" y="4248150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8334375" y="4514850"/>
            <a:ext cx="3162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质量、惯量、电机和传感器一致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667625" y="4838700"/>
            <a:ext cx="4000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7667625" y="4838700"/>
            <a:ext cx="85725" cy="5524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7839075" y="493395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334375" y="4914900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同一任务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8334375" y="5181600"/>
            <a:ext cx="3162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参考输入、初始状态和仿真时长一致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7667625" y="5505450"/>
            <a:ext cx="4000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7667625" y="5505450"/>
            <a:ext cx="85725" cy="5524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7839075" y="560070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8334375" y="5581650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同一评价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8334375" y="5848350"/>
            <a:ext cx="3162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RMSE、超调、恢复和物理检查一致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05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05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05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关键性能提升：参数适应、外力恢复与编队安全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05_章节"/>
          <p:cNvSpPr>
            <a:spLocks noGrp="1"/>
          </p:cNvSpPr>
          <p:nvPr/>
        </p:nvSpPr>
        <p:spPr>
          <a:xfrm>
            <a:off x="731520" y="1005840"/>
            <a:ext cx="122529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作品介绍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05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先集中给出最强结果，后续页面逐项展示正式证据与限制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05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底部结论"/>
          <p:cNvSpPr>
            <a:spLocks noGrp="1"/>
          </p:cNvSpPr>
          <p:nvPr/>
        </p:nvSpPr>
        <p:spPr>
          <a:xfrm>
            <a:off x="666750" y="6122988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结果主线是</a:t>
            </a:r>
            <a:r>
              <a:rPr sz="1600" b="1">
                <a:solidFill>
                  <a:srgbClr val="FFC000"/>
                </a:solidFill>
              </a:rPr>
              <a:t>参数变化更稳、外力恢复更好、编队风险更低</a:t>
            </a:r>
            <a:r>
              <a:rPr sz="1600"/>
              <a:t>，并完整说明代价</a:t>
            </a:r>
            <a:endParaRPr sz="1600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0" y="1504950"/>
            <a:ext cx="7953375" cy="451231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61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85" y="1581150"/>
            <a:ext cx="6984365" cy="416941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598805" y="570293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正式报告综合结果图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39125" y="1524000"/>
            <a:ext cx="33813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239125" y="1524000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448675" y="160020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20组随机参数同条件对照验证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448675" y="1819275"/>
            <a:ext cx="3076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20组更低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448675" y="219075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位置RMSE中位降幅87.63%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239125" y="2590800"/>
            <a:ext cx="33813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239125" y="2590800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448675" y="266700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三事件外力扰动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448675" y="2886075"/>
            <a:ext cx="3076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RMSE降低12.16%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448675" y="325755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0.30677 m降至0.26948 m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239125" y="3657600"/>
            <a:ext cx="33813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239125" y="3657600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448675" y="373380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三机近距离交汇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448675" y="3952875"/>
            <a:ext cx="3076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风险时间 2.04 s → 0 s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448675" y="432435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最小间距0.3832 m提高到0.6113 m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239125" y="4724400"/>
            <a:ext cx="33813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239125" y="4724400"/>
            <a:ext cx="85725" cy="8763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448675" y="480060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决赛升级回归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448675" y="5019675"/>
            <a:ext cx="3076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18项既有任务全部无退化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448675" y="5391150"/>
            <a:ext cx="30765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4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相对升级前主算法；三事件外扰进一步提升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06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06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06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创新方法：角残差判断、受限补偿与安全旁路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06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方法与创新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06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角残差持续可靠时才加入补偿，异常时保持基础控制输出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06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底部结论"/>
          <p:cNvSpPr>
            <a:spLocks noGrp="1"/>
          </p:cNvSpPr>
          <p:nvPr/>
        </p:nvSpPr>
        <p:spPr>
          <a:xfrm>
            <a:off x="666750" y="6136323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ARDG-RGPC根据</a:t>
            </a:r>
            <a:r>
              <a:rPr sz="1600" b="1">
                <a:solidFill>
                  <a:srgbClr val="FFC000"/>
                </a:solidFill>
              </a:rPr>
              <a:t>角残差是否持续可靠</a:t>
            </a:r>
            <a:r>
              <a:rPr sz="1600"/>
              <a:t>决定是否加入受限补偿</a:t>
            </a:r>
            <a:endParaRPr sz="1600"/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90550" y="1306195"/>
            <a:ext cx="11010900" cy="35534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69" name="图片 67"/>
          <p:cNvPicPr>
            <a:picLocks noChangeAspect="1"/>
          </p:cNvPicPr>
          <p:nvPr/>
        </p:nvPicPr>
        <p:blipFill>
          <a:blip r:embed="rId1"/>
          <a:srcRect t="8266"/>
          <a:stretch>
            <a:fillRect/>
          </a:stretch>
        </p:blipFill>
        <p:spPr>
          <a:xfrm>
            <a:off x="1922145" y="1341755"/>
            <a:ext cx="8397875" cy="3477895"/>
          </a:xfrm>
          <a:prstGeom prst="rect">
            <a:avLst/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704850" y="4866005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正式算法结构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90550" y="5122545"/>
            <a:ext cx="34861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90550" y="5122545"/>
            <a:ext cx="85725" cy="8953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62000" y="5217795"/>
            <a:ext cx="419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257300" y="5198745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基础控制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257300" y="5465445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由位置与状态误差计算期望合力、姿态和四电机指令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305300" y="5122545"/>
            <a:ext cx="34861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305300" y="5122545"/>
            <a:ext cx="85725" cy="8953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476750" y="5217795"/>
            <a:ext cx="419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972050" y="5198745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角残差补偿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972050" y="5465445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重构角运动残差，满足条件后平滑加入受限补偿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020050" y="5122545"/>
            <a:ext cx="34861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020050" y="5122545"/>
            <a:ext cx="85725" cy="8953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91500" y="5217795"/>
            <a:ext cx="419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686800" y="5198745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安全旁路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686800" y="5465445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数值异常、分配不可行或指令越界时保持基础控制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07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07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07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参数优化：同时看误差、平滑性和物理可行性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07_章节"/>
          <p:cNvSpPr>
            <a:spLocks noGrp="1"/>
          </p:cNvSpPr>
          <p:nvPr/>
        </p:nvSpPr>
        <p:spPr>
          <a:xfrm>
            <a:off x="428625" y="1137285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方法与创新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07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参数定型前同时考察角误差、峰值位置误差和电机指令平滑性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07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底部结论"/>
          <p:cNvSpPr>
            <a:spLocks noGrp="1"/>
          </p:cNvSpPr>
          <p:nvPr/>
        </p:nvSpPr>
        <p:spPr>
          <a:xfrm>
            <a:off x="666750" y="6162993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最终参数兼顾</a:t>
            </a:r>
            <a:r>
              <a:rPr sz="1600" b="1">
                <a:solidFill>
                  <a:srgbClr val="FFC000"/>
                </a:solidFill>
              </a:rPr>
              <a:t>跟踪性能、电机平滑性和物理约束</a:t>
            </a:r>
            <a:r>
              <a:rPr sz="1600"/>
              <a:t>，不是只追求单个场景最低误差</a:t>
            </a:r>
            <a:endParaRPr sz="1600"/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63830" y="2013585"/>
            <a:ext cx="3714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63830" y="2013585"/>
            <a:ext cx="85725" cy="8763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335280" y="2108835"/>
            <a:ext cx="419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30580" y="2089785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联合搜索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30580" y="2356485"/>
            <a:ext cx="2876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在稳定与物理约束满足后筛选候选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燕尾形 50"/>
          <p:cNvSpPr>
            <a:spLocks noGrp="1"/>
          </p:cNvSpPr>
          <p:nvPr/>
        </p:nvSpPr>
        <p:spPr>
          <a:xfrm>
            <a:off x="1859280" y="2937510"/>
            <a:ext cx="285750" cy="361950"/>
          </a:xfrm>
          <a:prstGeom prst="chevron">
            <a:avLst/>
          </a:prstGeom>
          <a:solidFill>
            <a:srgbClr val="8E9AA6"/>
          </a:solidFill>
          <a:ln w="0">
            <a:solidFill>
              <a:srgbClr val="8E9AA6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63830" y="3137535"/>
            <a:ext cx="3714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63830" y="3137535"/>
            <a:ext cx="85725" cy="8763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335280" y="3232785"/>
            <a:ext cx="419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30580" y="3213735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局部细化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30580" y="3480435"/>
            <a:ext cx="2876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围绕候选参数检查姿态误差与峰值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燕尾形 56"/>
          <p:cNvSpPr>
            <a:spLocks noGrp="1"/>
          </p:cNvSpPr>
          <p:nvPr/>
        </p:nvSpPr>
        <p:spPr>
          <a:xfrm>
            <a:off x="1859280" y="4061460"/>
            <a:ext cx="285750" cy="361950"/>
          </a:xfrm>
          <a:prstGeom prst="chevron">
            <a:avLst/>
          </a:prstGeom>
          <a:solidFill>
            <a:srgbClr val="8E9AA6"/>
          </a:solidFill>
          <a:ln w="0">
            <a:solidFill>
              <a:srgbClr val="8E9AA6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63830" y="4261485"/>
            <a:ext cx="3714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163830" y="4261485"/>
            <a:ext cx="85725" cy="8763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335280" y="4356735"/>
            <a:ext cx="419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30580" y="4337685"/>
            <a:ext cx="2876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最终定型</a:t>
            </a:r>
            <a:endParaRPr sz="135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30580" y="4604385"/>
            <a:ext cx="2876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冻结控制器参数，再执行回归和新增场景</a:t>
            </a:r>
            <a:endParaRPr sz="1015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3971290" y="1306195"/>
            <a:ext cx="8105140" cy="45897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93" name="图片 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1150" y="1986280"/>
            <a:ext cx="7859395" cy="2870200"/>
          </a:xfrm>
          <a:prstGeom prst="rect">
            <a:avLst/>
          </a:prstGeom>
        </p:spPr>
      </p:pic>
      <p:sp>
        <p:nvSpPr>
          <p:cNvPr id="65" name="矩形 64"/>
          <p:cNvSpPr>
            <a:spLocks noGrp="1"/>
          </p:cNvSpPr>
          <p:nvPr/>
        </p:nvSpPr>
        <p:spPr>
          <a:xfrm>
            <a:off x="4702175" y="5667375"/>
            <a:ext cx="681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候选参数、姿态误差目标与执行器平滑性筛选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09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09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09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基础跟踪：阶跃超调降低，典型轨迹稳定完成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09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仿真结果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09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官方PID与四种公开比较控制器使用相同模型、任务和评价时段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09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底部结论"/>
          <p:cNvSpPr>
            <a:spLocks noGrp="1"/>
          </p:cNvSpPr>
          <p:nvPr/>
        </p:nvSpPr>
        <p:spPr>
          <a:xfrm>
            <a:off x="666750" y="6149658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ARDG-RGPC在基础任务中保持</a:t>
            </a:r>
            <a:r>
              <a:rPr sz="1600">
                <a:solidFill>
                  <a:srgbClr val="FFC000"/>
                </a:solidFill>
              </a:rPr>
              <a:t>稳定表现</a:t>
            </a:r>
            <a:r>
              <a:rPr sz="1600"/>
              <a:t>；</a:t>
            </a:r>
            <a:r>
              <a:rPr sz="1600" b="1">
                <a:solidFill>
                  <a:srgbClr val="FFC000"/>
                </a:solidFill>
              </a:rPr>
              <a:t>不同控制器各有优势</a:t>
            </a:r>
            <a:endParaRPr sz="1600" b="1">
              <a:solidFill>
                <a:srgbClr val="FFC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3875" y="1524000"/>
            <a:ext cx="5429250" cy="3381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50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65" y="1600200"/>
            <a:ext cx="4924670" cy="3057525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619125" y="4638675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三轴独立阶跃响应与超调量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38875" y="1524000"/>
            <a:ext cx="5429250" cy="3381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53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19" y="1600200"/>
            <a:ext cx="5193163" cy="3057525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6334125" y="4638675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分段爬升、定点悬停、8字轨迹与三事件外力扰动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3875" y="5048250"/>
            <a:ext cx="3333750" cy="90043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23875" y="5048250"/>
            <a:ext cx="85725" cy="90106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33425" y="512445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阶跃响应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33425" y="53435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/ Y轴超调为0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3425" y="5715000"/>
            <a:ext cx="3028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Z轴超调约0.99%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333875" y="5048250"/>
            <a:ext cx="3333750" cy="90043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333875" y="5048250"/>
            <a:ext cx="85725" cy="90043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543425" y="512445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8字轨迹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543425" y="5343525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位置RMSE约0.0517 m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543425" y="5715000"/>
            <a:ext cx="3028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按整段轨迹评价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143875" y="5048250"/>
            <a:ext cx="3524250" cy="9067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143875" y="5048250"/>
            <a:ext cx="85725" cy="90678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353425" y="5124450"/>
            <a:ext cx="3219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比较结论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353425" y="5343525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同任务、同指标</a:t>
            </a:r>
            <a:endParaRPr sz="1875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53425" y="5715000"/>
            <a:ext cx="3219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不以单场景代替总体判断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11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11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11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参数变化验证：20组随机参数同条件对照验证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11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另含11项预设工况；升力效能、质量和转动惯量比例均在0.90至1.10内变化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11_页码"/>
          <p:cNvSpPr>
            <a:spLocks noGrp="1"/>
          </p:cNvSpPr>
          <p:nvPr/>
        </p:nvSpPr>
        <p:spPr>
          <a:xfrm>
            <a:off x="11187430" y="659155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P11_范围背景"/>
          <p:cNvSpPr>
            <a:spLocks noGrp="1"/>
          </p:cNvSpPr>
          <p:nvPr/>
        </p:nvSpPr>
        <p:spPr>
          <a:xfrm>
            <a:off x="644398" y="6583680"/>
            <a:ext cx="10634472" cy="27432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P11_范围说明"/>
          <p:cNvSpPr>
            <a:spLocks noGrp="1"/>
          </p:cNvSpPr>
          <p:nvPr/>
        </p:nvSpPr>
        <p:spPr>
          <a:xfrm>
            <a:off x="520065" y="6291263"/>
            <a:ext cx="10858500" cy="31813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36576" rIns="36576" bIns="36576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20组位置RMSE均低于官方PID；</a:t>
            </a:r>
            <a:r>
              <a:rPr sz="1600" b="1">
                <a:solidFill>
                  <a:srgbClr val="FFC000"/>
                </a:solidFill>
              </a:rPr>
              <a:t>结论仅适用于受测任务与参数范围</a:t>
            </a:r>
            <a:endParaRPr sz="1600" b="1">
              <a:solidFill>
                <a:srgbClr val="FFC000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仿真结果</a:t>
            </a:r>
            <a:endParaRPr sz="1125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4465" y="1313815"/>
            <a:ext cx="8141335" cy="480377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62" name="图片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635" y="1385570"/>
            <a:ext cx="6328410" cy="473964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598805" y="610108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11项预设参数与20组随机参数统计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72500" y="1630680"/>
            <a:ext cx="3048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572500" y="1630680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782050" y="1706880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同条件对照结果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82050" y="1925955"/>
            <a:ext cx="274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20组更低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82050" y="2297430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相对官方PID，20组均改善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0" y="2726055"/>
            <a:ext cx="3048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572500" y="2726055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782050" y="2802255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RMSE中位降幅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782050" y="3021330"/>
            <a:ext cx="274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87.63%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82050" y="3392805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20组结果全部保留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72500" y="3821430"/>
            <a:ext cx="3048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572500" y="3821430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782050" y="3897630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相对基础几何控制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82050" y="4116705"/>
            <a:ext cx="274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6项改善 / 5项保持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782050" y="4488180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11项预设参数全部无退化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572500" y="4916805"/>
            <a:ext cx="3048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572500" y="4916805"/>
            <a:ext cx="85725" cy="8572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782050" y="4993005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适用范围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782050" y="5212080"/>
            <a:ext cx="274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20满足观察门槛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782050" y="5583555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20/20物理有效性检查通过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10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10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10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新增角扰动场景：守卫按事件激活并说明性能取舍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10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新增场景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10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正滚转与负俯仰机体系力矩扰动，检查角残差、补偿和守卫状态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10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底部结论"/>
          <p:cNvSpPr>
            <a:spLocks noGrp="1"/>
          </p:cNvSpPr>
          <p:nvPr/>
        </p:nvSpPr>
        <p:spPr>
          <a:xfrm>
            <a:off x="666750" y="6148388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官方PID的姿态和位置误差更低；ARDG-RGPC的</a:t>
            </a:r>
            <a:r>
              <a:rPr sz="1600" b="1">
                <a:solidFill>
                  <a:srgbClr val="FFC000"/>
                </a:solidFill>
              </a:rPr>
              <a:t>电机总变差降低约2.57%至2.58%</a:t>
            </a:r>
            <a:endParaRPr sz="1600" b="1">
              <a:solidFill>
                <a:srgbClr val="FFC00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4465" y="1264920"/>
            <a:ext cx="8188960" cy="47523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57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805" y="1402080"/>
            <a:ext cx="6989445" cy="428117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590550" y="5796915"/>
            <a:ext cx="7667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正滚转冲击与负俯仰冲击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620125" y="1543050"/>
            <a:ext cx="30003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620125" y="1543050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29675" y="161925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场景设计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829675" y="1838325"/>
            <a:ext cx="2695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2个新增角扰动场景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29675" y="220980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机体系滚转与俯仰力矩冲击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620125" y="2667000"/>
            <a:ext cx="30003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620125" y="2667000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829675" y="274320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误差表现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829675" y="2962275"/>
            <a:ext cx="2695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官方PID更低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829675" y="333375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姿态与位置误差不作为主算法优势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620125" y="3790950"/>
            <a:ext cx="300037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620125" y="3790950"/>
            <a:ext cx="85725" cy="9525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829675" y="386715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电机总变差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829675" y="4086225"/>
            <a:ext cx="2695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降低2.57%～2.58%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829675" y="445770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体现误差与平滑性的取舍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620125" y="4914900"/>
            <a:ext cx="3000375" cy="9829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620125" y="4914900"/>
            <a:ext cx="85725" cy="97091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829675" y="499110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守卫状态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829675" y="5210175"/>
            <a:ext cx="2695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仅在事件附近激活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829675" y="5581650"/>
            <a:ext cx="26955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事件前后保持基础控制输出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10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10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10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三事件外力扰动：整体恢复误差降低12.16%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10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仿真结果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10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这是既有三事件外力扰动任务的新结果，不作为新增场景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10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底部结论"/>
          <p:cNvSpPr>
            <a:spLocks noGrp="1"/>
          </p:cNvSpPr>
          <p:nvPr/>
        </p:nvSpPr>
        <p:spPr>
          <a:xfrm>
            <a:off x="666750" y="6162993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ARDG-RGPC改善全时域RMSE；</a:t>
            </a:r>
            <a:r>
              <a:rPr sz="1600" b="1">
                <a:solidFill>
                  <a:srgbClr val="FFC000"/>
                </a:solidFill>
              </a:rPr>
              <a:t>收益与代价</a:t>
            </a:r>
            <a:r>
              <a:rPr lang="zh-CN" sz="1600" b="1">
                <a:solidFill>
                  <a:srgbClr val="FFC000"/>
                </a:solidFill>
              </a:rPr>
              <a:t>并存但整体</a:t>
            </a:r>
            <a:r>
              <a:rPr lang="zh-CN" sz="1600" b="1">
                <a:solidFill>
                  <a:srgbClr val="FFC000"/>
                </a:solidFill>
              </a:rPr>
              <a:t>更优</a:t>
            </a:r>
            <a:endParaRPr lang="zh-CN" sz="1600" b="1">
              <a:solidFill>
                <a:srgbClr val="FFC00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3830" y="1303020"/>
            <a:ext cx="828548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57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10" y="1509395"/>
            <a:ext cx="8087995" cy="4098925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590550" y="5781675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三次外力事件的时域误差与全时域RMSE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72500" y="1562100"/>
            <a:ext cx="30480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72500" y="1562100"/>
            <a:ext cx="85725" cy="8953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782050" y="1638300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官方PID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82050" y="1857375"/>
            <a:ext cx="274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0.30677 m</a:t>
            </a:r>
            <a:endParaRPr sz="1875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82050" y="222885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全时域三维位置RMSE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72500" y="2628900"/>
            <a:ext cx="30480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572500" y="2628900"/>
            <a:ext cx="85725" cy="8953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782050" y="2705100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ARDG-RGPC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82050" y="2924175"/>
            <a:ext cx="274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0.26948 m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82050" y="329565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同模型、同输入、同评价区间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0" y="3695700"/>
            <a:ext cx="30480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572500" y="3695700"/>
            <a:ext cx="85725" cy="8953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782050" y="3771900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相对改善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782050" y="3990975"/>
            <a:ext cx="274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降低12.16%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82050" y="436245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改善主要体现在整体恢复过程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72500" y="4762500"/>
            <a:ext cx="30480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572500" y="4762500"/>
            <a:ext cx="85725" cy="8953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782050" y="4838700"/>
            <a:ext cx="274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结果限制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82050" y="5057775"/>
            <a:ext cx="274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峰值误差更高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782050" y="542925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不宣称所有瞬时指标均改善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12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12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12_标题"/>
          <p:cNvSpPr>
            <a:spLocks noGrp="1"/>
          </p:cNvSpPr>
          <p:nvPr/>
        </p:nvSpPr>
        <p:spPr>
          <a:xfrm>
            <a:off x="713232" y="26746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风扰、传感器退化与复合外扰验证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12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仿真结果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12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分别检查风扰与传感器退化，并在六组复合条件下核对物理有效性和恢复时间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12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底部结论"/>
          <p:cNvSpPr>
            <a:spLocks noGrp="1"/>
          </p:cNvSpPr>
          <p:nvPr/>
        </p:nvSpPr>
        <p:spPr>
          <a:xfrm>
            <a:off x="666750" y="6136323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六组复合条件全部通过物理检查；</a:t>
            </a:r>
            <a:r>
              <a:rPr lang="zh-CN" sz="1600"/>
              <a:t>涉及场景中表现</a:t>
            </a:r>
            <a:r>
              <a:rPr lang="zh-CN" sz="1600"/>
              <a:t>优异</a:t>
            </a:r>
            <a:endParaRPr lang="zh-CN" sz="1600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86690" y="1504950"/>
            <a:ext cx="5642610" cy="349567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60" name="图片 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85" y="1964055"/>
            <a:ext cx="5542915" cy="229870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495300" y="475996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风扰与传感器退化的结果波动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0" y="1504950"/>
            <a:ext cx="5931535" cy="349567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63" name="图片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88820"/>
            <a:ext cx="5855335" cy="2268220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6191250" y="4730115"/>
            <a:ext cx="5381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峰值误差、RMSE、恢复时间与守卫介入比例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5300" y="5092065"/>
            <a:ext cx="3333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95300" y="5092065"/>
            <a:ext cx="85725" cy="8572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5168265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物理有效性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04850" y="538734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6组通过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04850" y="5758815"/>
            <a:ext cx="3028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复合参数与外扰条件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29125" y="5092065"/>
            <a:ext cx="33337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429125" y="5092065"/>
            <a:ext cx="85725" cy="8572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638675" y="5168265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位置RMSE范围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638675" y="538734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0.19068至0.31541 m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638675" y="5758815"/>
            <a:ext cx="3028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按六组受测条件统计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362950" y="5092065"/>
            <a:ext cx="330517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362950" y="5092065"/>
            <a:ext cx="85725" cy="8572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572500" y="5168265"/>
            <a:ext cx="3000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恢复时间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572500" y="5387340"/>
            <a:ext cx="3000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1.56至1.74 s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572500" y="5758815"/>
            <a:ext cx="300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按正式恢复判据计算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13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13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13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三机编队与PP-CBF：跟踪与近距离安全同时验证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13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编队安全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13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PP-CBF是独立上层安全监督器，三套ARDG-RGPC分别控制三架无人机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13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17</a:t>
            </a:r>
            <a:endParaRPr sz="850" b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6115050"/>
            <a:ext cx="10858500" cy="4572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6115050"/>
            <a:ext cx="10858500" cy="4572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正常编队保持跟踪；接近安全距离时PP-CBF按需修正参考，</a:t>
            </a:r>
            <a:r>
              <a:rPr lang="zh-CN" sz="1600"/>
              <a:t>但为了提升安全</a:t>
            </a:r>
            <a:r>
              <a:rPr lang="zh-CN" sz="1600"/>
              <a:t>导致存在</a:t>
            </a:r>
            <a:r>
              <a:rPr sz="1600" b="1">
                <a:solidFill>
                  <a:srgbClr val="FFC000"/>
                </a:solidFill>
              </a:rPr>
              <a:t>23.95%的位置RMSE代价</a:t>
            </a:r>
            <a:endParaRPr sz="1600" b="1">
              <a:solidFill>
                <a:srgbClr val="FFC000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63830" y="1476375"/>
            <a:ext cx="5760720" cy="359029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57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60" y="1552575"/>
            <a:ext cx="5395595" cy="332676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590550" y="48768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队形变换、相对队形误差、最近机间距和成员一致性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191250" y="1476375"/>
            <a:ext cx="5875655" cy="359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pic>
        <p:nvPicPr>
          <p:cNvPr id="60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736090"/>
            <a:ext cx="5763895" cy="2861945"/>
          </a:xfrm>
          <a:prstGeom prst="rect">
            <a:avLst/>
          </a:prstGeom>
        </p:spPr>
      </p:pic>
      <p:sp>
        <p:nvSpPr>
          <p:cNvPr id="35" name="矩形 34"/>
          <p:cNvSpPr>
            <a:spLocks noGrp="1"/>
          </p:cNvSpPr>
          <p:nvPr/>
        </p:nvSpPr>
        <p:spPr>
          <a:xfrm>
            <a:off x="6286500" y="4850130"/>
            <a:ext cx="528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最小机间距与低于安全阈值的累计时间</a:t>
            </a:r>
            <a:endParaRPr sz="90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95300" y="5166360"/>
            <a:ext cx="5334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95300" y="5166360"/>
            <a:ext cx="85725" cy="8763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04850" y="5242560"/>
            <a:ext cx="502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正常编队跟踪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04850" y="5461635"/>
            <a:ext cx="502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94E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相对队形RMSE 0.0383 m</a:t>
            </a:r>
            <a:endParaRPr sz="1875" b="1">
              <a:solidFill>
                <a:srgbClr val="294E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04850" y="5833110"/>
            <a:ext cx="502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全局位置RMSE 0.0287 m；最小间距0.8530 m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91250" y="5166360"/>
            <a:ext cx="54768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191250" y="5166360"/>
            <a:ext cx="85725" cy="8763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400800" y="5242560"/>
            <a:ext cx="51720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PP-CBF近距离安全</a:t>
            </a:r>
            <a:endParaRPr sz="105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400800" y="5461635"/>
            <a:ext cx="51720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0.3832 → 0.6113 m；2.04 s → 0 s</a:t>
            </a:r>
            <a:endParaRPr sz="18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400800" y="5833110"/>
            <a:ext cx="5172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安全代价：全局位置RMSE增加23.95%</a:t>
            </a:r>
            <a:endParaRPr sz="94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14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14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14_标题"/>
          <p:cNvSpPr>
            <a:spLocks noGrp="1"/>
          </p:cNvSpPr>
          <p:nvPr/>
        </p:nvSpPr>
        <p:spPr>
          <a:xfrm>
            <a:off x="713232" y="243840"/>
            <a:ext cx="8366760" cy="5181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三项关键创新：角残差补偿、受限控制与编队安全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14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创新与成果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14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每项创新均对应具体问题、实现方法和正式结果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14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底部结论"/>
          <p:cNvSpPr>
            <a:spLocks noGrp="1"/>
          </p:cNvSpPr>
          <p:nvPr/>
        </p:nvSpPr>
        <p:spPr>
          <a:xfrm>
            <a:off x="666750" y="6162993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三项创新分别解决</a:t>
            </a:r>
            <a:r>
              <a:rPr sz="1600" b="1">
                <a:solidFill>
                  <a:srgbClr val="FFC000"/>
                </a:solidFill>
              </a:rPr>
              <a:t>角扰动判断、低层执行限制和多机近距离风险</a:t>
            </a:r>
            <a:endParaRPr sz="1600" b="1">
              <a:solidFill>
                <a:srgbClr val="FFC000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17500" y="1526472"/>
            <a:ext cx="3630799" cy="4336787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17500" y="1526472"/>
            <a:ext cx="90770" cy="4336787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pic>
        <p:nvPicPr>
          <p:cNvPr id="61" name="图片 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815" y="1647190"/>
            <a:ext cx="3487420" cy="2136775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499040" y="4097827"/>
            <a:ext cx="3267719" cy="4841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46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角残差判断与受限补偿</a:t>
            </a:r>
            <a:endParaRPr sz="1465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9553" y="4382246"/>
            <a:ext cx="3146692" cy="827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重构角残差，仅在判断持续可靠时加入补偿；异常时保持基础控制。</a:t>
            </a:r>
            <a:endParaRPr sz="105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9553" y="5116928"/>
            <a:ext cx="3146692" cy="5042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电机总变差降低2.57%～2.58%</a:t>
            </a:r>
            <a:endParaRPr sz="124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351721" y="1526472"/>
            <a:ext cx="3630799" cy="4336787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351721" y="1526472"/>
            <a:ext cx="90770" cy="4336787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pic>
        <p:nvPicPr>
          <p:cNvPr id="67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460" y="1543050"/>
            <a:ext cx="3608705" cy="2240915"/>
          </a:xfrm>
          <a:prstGeom prst="rect">
            <a:avLst/>
          </a:prstGeom>
        </p:spPr>
      </p:pic>
      <p:sp>
        <p:nvSpPr>
          <p:cNvPr id="39" name="矩形 38"/>
          <p:cNvSpPr>
            <a:spLocks noGrp="1"/>
          </p:cNvSpPr>
          <p:nvPr/>
        </p:nvSpPr>
        <p:spPr>
          <a:xfrm>
            <a:off x="4533261" y="4097827"/>
            <a:ext cx="3267719" cy="4841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46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兼顾跟踪与电机限制</a:t>
            </a:r>
            <a:endParaRPr sz="1465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593774" y="4382246"/>
            <a:ext cx="3146692" cy="827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先确定期望合力与推力方向，再按上下限分配四路电机指令。</a:t>
            </a:r>
            <a:endParaRPr sz="105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593774" y="5116928"/>
            <a:ext cx="3146692" cy="5042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基础阶跃X/Y轴超调为0，Z轴约0.99%</a:t>
            </a:r>
            <a:endParaRPr sz="124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85941" y="1526472"/>
            <a:ext cx="3630799" cy="4336787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385941" y="1526472"/>
            <a:ext cx="90770" cy="4336787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pic>
        <p:nvPicPr>
          <p:cNvPr id="73" name="图片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075" y="1519555"/>
            <a:ext cx="3315335" cy="2588260"/>
          </a:xfrm>
          <a:prstGeom prst="rect">
            <a:avLst/>
          </a:prstGeom>
        </p:spPr>
      </p:pic>
      <p:sp>
        <p:nvSpPr>
          <p:cNvPr id="45" name="矩形 44"/>
          <p:cNvSpPr>
            <a:spLocks noGrp="1"/>
          </p:cNvSpPr>
          <p:nvPr/>
        </p:nvSpPr>
        <p:spPr>
          <a:xfrm>
            <a:off x="8567481" y="4097827"/>
            <a:ext cx="3267719" cy="4841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46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6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按需介入的编队安全监督</a:t>
            </a:r>
            <a:endParaRPr sz="1465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627995" y="4382246"/>
            <a:ext cx="3146692" cy="827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预测三机距离，仅在接近安全阈值时修正加速度参考。</a:t>
            </a:r>
            <a:endParaRPr sz="105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627995" y="5116928"/>
            <a:ext cx="3146692" cy="5042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风险暴露时间2.04 s降至0 s</a:t>
            </a:r>
            <a:endParaRPr sz="124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14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14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14_标题"/>
          <p:cNvSpPr>
            <a:spLocks noGrp="1"/>
          </p:cNvSpPr>
          <p:nvPr/>
        </p:nvSpPr>
        <p:spPr>
          <a:xfrm>
            <a:off x="713232" y="243840"/>
            <a:ext cx="8366760" cy="5181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核心结论：性能提升、鲁棒适应与编队安全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14_章节"/>
          <p:cNvSpPr>
            <a:spLocks noGrp="1"/>
          </p:cNvSpPr>
          <p:nvPr/>
        </p:nvSpPr>
        <p:spPr>
          <a:xfrm>
            <a:off x="762000" y="1009650"/>
            <a:ext cx="1000125" cy="2865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结果结论</a:t>
            </a:r>
            <a:endParaRPr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14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底部结论"/>
          <p:cNvSpPr>
            <a:spLocks noGrp="1"/>
          </p:cNvSpPr>
          <p:nvPr/>
        </p:nvSpPr>
        <p:spPr>
          <a:xfrm>
            <a:off x="666750" y="6115050"/>
            <a:ext cx="10858500" cy="45720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四项结果共同体现</a:t>
            </a:r>
            <a:r>
              <a:rPr b="1">
                <a:solidFill>
                  <a:srgbClr val="FFC000"/>
                </a:solidFill>
              </a:rPr>
              <a:t>性能更稳、外扰恢复更好、执行更平滑、编队风险更低</a:t>
            </a:r>
            <a:endParaRPr b="1">
              <a:solidFill>
                <a:srgbClr val="FFC000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四项正式结果对应四类关键机制，集中呈现决赛阶段提升</a:t>
            </a:r>
            <a:endParaRPr sz="105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52450" y="1504950"/>
            <a:ext cx="5438775" cy="168592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52450" y="1504950"/>
            <a:ext cx="85725" cy="168592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81050" y="16383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276350" y="161925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参数变化适应</a:t>
            </a:r>
            <a:endParaRPr sz="150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990725"/>
            <a:ext cx="4905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20组位置RMSE低于官方PID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19150" y="2371725"/>
            <a:ext cx="49053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20组随机参数同条件对照；位置RMSE中位降幅87.63%</a:t>
            </a:r>
            <a:endParaRPr sz="109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2714625"/>
            <a:ext cx="4905375" cy="9525"/>
          </a:xfrm>
          <a:prstGeom prst="rect">
            <a:avLst/>
          </a:prstGeom>
          <a:solidFill>
            <a:srgbClr val="C8D4DE"/>
          </a:solidFill>
          <a:ln w="0">
            <a:solidFill>
              <a:srgbClr val="C8D4DE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819150" y="2781300"/>
            <a:ext cx="4905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关键机制：推力尺度校正 + 电机指令受限分配</a:t>
            </a:r>
            <a:endParaRPr sz="109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181725" y="1504950"/>
            <a:ext cx="5438775" cy="168592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181725" y="1504950"/>
            <a:ext cx="85725" cy="168592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6410325" y="16383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905625" y="161925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复杂外扰恢复</a:t>
            </a:r>
            <a:endParaRPr sz="150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6448425" y="1990725"/>
            <a:ext cx="4905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全时域位置RMSE降低12.16%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6448425" y="2371725"/>
            <a:ext cx="49053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三事件外力扰动：0.30677 m降至0.26948 m</a:t>
            </a:r>
            <a:endParaRPr sz="109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6448425" y="2714625"/>
            <a:ext cx="4905375" cy="9525"/>
          </a:xfrm>
          <a:prstGeom prst="rect">
            <a:avLst/>
          </a:prstGeom>
          <a:solidFill>
            <a:srgbClr val="C8D4DE"/>
          </a:solidFill>
          <a:ln w="0">
            <a:solidFill>
              <a:srgbClr val="C8D4DE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6448425" y="2781300"/>
            <a:ext cx="4905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关键机制：角残差判断 + 渐变受限补偿</a:t>
            </a:r>
            <a:endParaRPr sz="109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52450" y="3333750"/>
            <a:ext cx="5438775" cy="168592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552450" y="3333750"/>
            <a:ext cx="85725" cy="168592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781050" y="34671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1276350" y="344805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角扰动平滑抑制</a:t>
            </a:r>
            <a:endParaRPr sz="150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819150" y="3819525"/>
            <a:ext cx="4905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电机总变差降低2.57%～2.58%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819150" y="4200525"/>
            <a:ext cx="49053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正滚转冲击与负俯仰冲击两个新增场景结果一致</a:t>
            </a:r>
            <a:endParaRPr sz="109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819150" y="4543425"/>
            <a:ext cx="4905375" cy="9525"/>
          </a:xfrm>
          <a:prstGeom prst="rect">
            <a:avLst/>
          </a:prstGeom>
          <a:solidFill>
            <a:srgbClr val="C8D4DE"/>
          </a:solidFill>
          <a:ln w="0">
            <a:solidFill>
              <a:srgbClr val="C8D4DE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819150" y="4610100"/>
            <a:ext cx="4905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关键机制：判断持续可靠时补偿，异常时保持基础控制</a:t>
            </a:r>
            <a:endParaRPr sz="109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6181725" y="3333750"/>
            <a:ext cx="5438775" cy="168592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181725" y="3333750"/>
            <a:ext cx="85725" cy="168592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410325" y="34671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905625" y="344805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编队近距离安全</a:t>
            </a:r>
            <a:endParaRPr sz="150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6448425" y="3819525"/>
            <a:ext cx="4905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风险暴露时间2.04 s降至0 s</a:t>
            </a:r>
            <a:endParaRPr sz="172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6448425" y="4200525"/>
            <a:ext cx="49053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最小间距由0.3832 m提高至0.6113 m</a:t>
            </a:r>
            <a:endParaRPr sz="109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448425" y="4543425"/>
            <a:ext cx="4905375" cy="9525"/>
          </a:xfrm>
          <a:prstGeom prst="rect">
            <a:avLst/>
          </a:prstGeom>
          <a:solidFill>
            <a:srgbClr val="C8D4DE"/>
          </a:solidFill>
          <a:ln w="0">
            <a:solidFill>
              <a:srgbClr val="C8D4DE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448425" y="4610100"/>
            <a:ext cx="4905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09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关键机制：PP-CBF仅在接近安全阈值时修正加速度参考</a:t>
            </a:r>
            <a:endParaRPr sz="109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552450" y="5162550"/>
            <a:ext cx="11068050" cy="752475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552450" y="5162550"/>
            <a:ext cx="85725" cy="75247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819150" y="5276850"/>
            <a:ext cx="1257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工程验证</a:t>
            </a:r>
            <a:endParaRPr sz="150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2143125" y="52387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16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相对升级前主算法
18项任务全部无退化，三事件外扰进一步提升</a:t>
            </a:r>
            <a:endParaRPr sz="116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6953250" y="5238750"/>
            <a:ext cx="4400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代码生成完成  |  Step(void) P99：0.0002 ms</a:t>
            </a:r>
            <a:endParaRPr sz="1275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08_A8圆标"/>
          <p:cNvSpPr>
            <a:spLocks noGrp="1"/>
          </p:cNvSpPr>
          <p:nvPr/>
        </p:nvSpPr>
        <p:spPr>
          <a:xfrm>
            <a:off x="164592" y="356616"/>
            <a:ext cx="457200" cy="457200"/>
          </a:xfrm>
          <a:prstGeom prst="ellipse">
            <a:avLst/>
          </a:prstGeom>
          <a:solidFill>
            <a:srgbClr val="4A5C7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P08_A8文字"/>
          <p:cNvSpPr>
            <a:spLocks noGrp="1"/>
          </p:cNvSpPr>
          <p:nvPr/>
        </p:nvSpPr>
        <p:spPr>
          <a:xfrm>
            <a:off x="187452" y="370332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08_标题"/>
          <p:cNvSpPr>
            <a:spLocks noGrp="1"/>
          </p:cNvSpPr>
          <p:nvPr/>
        </p:nvSpPr>
        <p:spPr>
          <a:xfrm>
            <a:off x="713232" y="210312"/>
            <a:ext cx="836676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900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工程验证：18项回归、代码生成与函数计时</a:t>
            </a:r>
            <a:endParaRPr sz="2900" b="1">
              <a:solidFill>
                <a:srgbClr val="0B5E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08_章节"/>
          <p:cNvSpPr>
            <a:spLocks noGrp="1"/>
          </p:cNvSpPr>
          <p:nvPr/>
        </p:nvSpPr>
        <p:spPr>
          <a:xfrm>
            <a:off x="762000" y="1009650"/>
            <a:ext cx="1000125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5E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工程验证</a:t>
            </a:r>
            <a:endParaRPr sz="105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08_副标题"/>
          <p:cNvSpPr>
            <a:spLocks noGrp="1"/>
          </p:cNvSpPr>
          <p:nvPr/>
        </p:nvSpPr>
        <p:spPr>
          <a:xfrm>
            <a:off x="1857375" y="1009650"/>
            <a:ext cx="8572500" cy="2857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分别检查任务结果、物理约束、代码生成和Step函数运行条件</a:t>
            </a:r>
            <a:endParaRPr sz="135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08_页码"/>
          <p:cNvSpPr>
            <a:spLocks noGrp="1"/>
          </p:cNvSpPr>
          <p:nvPr/>
        </p:nvSpPr>
        <p:spPr>
          <a:xfrm>
            <a:off x="11155680" y="6547104"/>
            <a:ext cx="658368" cy="2026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7A87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17</a:t>
            </a:r>
            <a:endParaRPr sz="850" b="0">
              <a:solidFill>
                <a:srgbClr val="7A87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底部结论_背景"/>
          <p:cNvSpPr>
            <a:spLocks noGrp="1"/>
          </p:cNvSpPr>
          <p:nvPr/>
        </p:nvSpPr>
        <p:spPr>
          <a:xfrm>
            <a:off x="667512" y="6071616"/>
            <a:ext cx="10844784" cy="420624"/>
          </a:xfrm>
          <a:prstGeom prst="roundRect">
            <a:avLst/>
          </a:prstGeom>
          <a:solidFill>
            <a:srgbClr val="244667"/>
          </a:solidFill>
          <a:ln w="12700">
            <a:solidFill>
              <a:srgbClr val="24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底部结论"/>
          <p:cNvSpPr>
            <a:spLocks noGrp="1"/>
          </p:cNvSpPr>
          <p:nvPr/>
        </p:nvSpPr>
        <p:spPr>
          <a:xfrm>
            <a:off x="666750" y="6149658"/>
            <a:ext cx="10858500" cy="281305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  <p:txBody>
          <a:bodyPr wrap="square" lIns="36576" tIns="18288" rIns="36576" bIns="18288" anchor="ctr">
            <a:sp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工程证据覆盖</a:t>
            </a:r>
            <a:r>
              <a:rPr sz="1600" b="1">
                <a:solidFill>
                  <a:srgbClr val="FFC000"/>
                </a:solidFill>
              </a:rPr>
              <a:t>代表性回归、代码生成、函数计时和安全旁路</a:t>
            </a:r>
            <a:endParaRPr sz="1600"/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52450" y="1524000"/>
            <a:ext cx="519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6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决赛升级回归：相对升级前主算法</a:t>
            </a:r>
            <a:endParaRPr sz="180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552450" y="1924050"/>
            <a:ext cx="2000250" cy="615315"/>
          </a:xfrm>
          <a:prstGeom prst="rect">
            <a:avLst/>
          </a:prstGeom>
          <a:solidFill>
            <a:srgbClr val="294E7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90550" y="1943100"/>
            <a:ext cx="1924050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检查项目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552700" y="1924050"/>
            <a:ext cx="3190875" cy="615315"/>
          </a:xfrm>
          <a:prstGeom prst="rect">
            <a:avLst/>
          </a:prstGeom>
          <a:solidFill>
            <a:srgbClr val="294E7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2590800" y="1943100"/>
            <a:ext cx="3114675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正式结果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52450" y="2539365"/>
            <a:ext cx="2000250" cy="615315"/>
          </a:xfrm>
          <a:prstGeom prst="rect">
            <a:avLst/>
          </a:prstGeom>
          <a:solidFill>
            <a:srgbClr val="EAF3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600075" y="2558415"/>
            <a:ext cx="1905000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对比对象</a:t>
            </a:r>
            <a:endParaRPr sz="160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552700" y="2539365"/>
            <a:ext cx="3190875" cy="615315"/>
          </a:xfrm>
          <a:prstGeom prst="rect">
            <a:avLst/>
          </a:prstGeom>
          <a:solidFill>
            <a:srgbClr val="EAF3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2600325" y="2558415"/>
            <a:ext cx="3095625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09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决赛最终ARDG-RGPC 与升级前主算法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52450" y="3154680"/>
            <a:ext cx="2000250" cy="61531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00075" y="3173730"/>
            <a:ext cx="1905000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既有任务保持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2552700" y="3154680"/>
            <a:ext cx="3190875" cy="61531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2600325" y="3173730"/>
            <a:ext cx="3095625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09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18项全部无退化，其中三事件外扰进一步提升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552450" y="3769995"/>
            <a:ext cx="2000250" cy="615315"/>
          </a:xfrm>
          <a:prstGeom prst="rect">
            <a:avLst/>
          </a:prstGeom>
          <a:solidFill>
            <a:srgbClr val="F7F9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600075" y="3789045"/>
            <a:ext cx="1905000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决赛新增能力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2552700" y="3769995"/>
            <a:ext cx="3190875" cy="615315"/>
          </a:xfrm>
          <a:prstGeom prst="rect">
            <a:avLst/>
          </a:prstGeom>
          <a:solidFill>
            <a:srgbClr val="F7F9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2600325" y="3789045"/>
            <a:ext cx="3095625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09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新增2个机体系角扰动场景与守卫补偿验证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552450" y="4385310"/>
            <a:ext cx="2000250" cy="61531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00075" y="4404360"/>
            <a:ext cx="1905000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约束检查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2552700" y="4385310"/>
            <a:ext cx="3190875" cy="61531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2600325" y="4404360"/>
            <a:ext cx="3095625" cy="577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09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18/18运行成功，硬约束全部通过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191250" y="1524000"/>
            <a:ext cx="547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8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44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生成控制器工程验证</a:t>
            </a:r>
            <a:endParaRPr sz="1800" b="1">
              <a:solidFill>
                <a:srgbClr val="244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6191250" y="1924050"/>
            <a:ext cx="2190750" cy="512763"/>
          </a:xfrm>
          <a:prstGeom prst="rect">
            <a:avLst/>
          </a:prstGeom>
          <a:solidFill>
            <a:srgbClr val="294E7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6229350" y="1943100"/>
            <a:ext cx="2114550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检查项目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8382000" y="1924050"/>
            <a:ext cx="3286125" cy="512763"/>
          </a:xfrm>
          <a:prstGeom prst="rect">
            <a:avLst/>
          </a:prstGeom>
          <a:solidFill>
            <a:srgbClr val="294E7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8420100" y="1943100"/>
            <a:ext cx="3209925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正式结果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6191250" y="2436813"/>
            <a:ext cx="2190750" cy="512763"/>
          </a:xfrm>
          <a:prstGeom prst="rect">
            <a:avLst/>
          </a:prstGeom>
          <a:solidFill>
            <a:srgbClr val="F7F9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6238875" y="2455863"/>
            <a:ext cx="2095500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代码生成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8382000" y="2436813"/>
            <a:ext cx="3286125" cy="512763"/>
          </a:xfrm>
          <a:prstGeom prst="rect">
            <a:avLst/>
          </a:prstGeom>
          <a:solidFill>
            <a:srgbClr val="F7F9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8429625" y="2455863"/>
            <a:ext cx="3190875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已完成并保留生成结果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191250" y="2949575"/>
            <a:ext cx="2190750" cy="512763"/>
          </a:xfrm>
          <a:prstGeom prst="rect">
            <a:avLst/>
          </a:prstGeom>
          <a:solidFill>
            <a:srgbClr val="EAF3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6238875" y="2968625"/>
            <a:ext cx="2095500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Step(void) P99</a:t>
            </a:r>
            <a:endParaRPr sz="1600" b="1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8382000" y="2949575"/>
            <a:ext cx="3286125" cy="512763"/>
          </a:xfrm>
          <a:prstGeom prst="rect">
            <a:avLst/>
          </a:prstGeom>
          <a:solidFill>
            <a:srgbClr val="EAF3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8429625" y="2968625"/>
            <a:ext cx="3190875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12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0.0002 ms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6191250" y="3462338"/>
            <a:ext cx="2190750" cy="512763"/>
          </a:xfrm>
          <a:prstGeom prst="rect">
            <a:avLst/>
          </a:prstGeom>
          <a:solidFill>
            <a:srgbClr val="F7F9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238875" y="3481388"/>
            <a:ext cx="2095500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Step(void) 最大值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8382000" y="3462338"/>
            <a:ext cx="3286125" cy="512763"/>
          </a:xfrm>
          <a:prstGeom prst="rect">
            <a:avLst/>
          </a:prstGeom>
          <a:solidFill>
            <a:srgbClr val="F7F9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8429625" y="3481388"/>
            <a:ext cx="3190875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0.1476 ms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6191250" y="3975100"/>
            <a:ext cx="2190750" cy="5127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6238875" y="3994150"/>
            <a:ext cx="2095500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动态内存分配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8382000" y="3975100"/>
            <a:ext cx="3286125" cy="5127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8429625" y="3994150"/>
            <a:ext cx="3190875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测量过程中0次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6191250" y="4487863"/>
            <a:ext cx="2190750" cy="512763"/>
          </a:xfrm>
          <a:prstGeom prst="rect">
            <a:avLst/>
          </a:prstGeom>
          <a:solidFill>
            <a:srgbClr val="F7F9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6238875" y="4506913"/>
            <a:ext cx="2095500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l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安全旁路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8382000" y="4487863"/>
            <a:ext cx="3286125" cy="512763"/>
          </a:xfrm>
          <a:prstGeom prst="rect">
            <a:avLst/>
          </a:prstGeom>
          <a:solidFill>
            <a:srgbClr val="F7F9F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8429625" y="4506913"/>
            <a:ext cx="3190875" cy="474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125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边界样例检查通过</a:t>
            </a:r>
            <a:endParaRPr sz="1600" b="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552450" y="5162550"/>
            <a:ext cx="111156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4DE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552450" y="5162550"/>
            <a:ext cx="85725" cy="590550"/>
          </a:xfrm>
          <a:prstGeom prst="rect">
            <a:avLst/>
          </a:prstGeom>
          <a:solidFill>
            <a:srgbClr val="294E70"/>
          </a:solidFill>
          <a:ln w="0">
            <a:solidFill>
              <a:srgbClr val="294E70"/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781050" y="5219700"/>
            <a:ext cx="10715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09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5965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计时条件：预热10,000次后测量1,000,000次。结果仅对应生成控制器Step(void)函数，不代表完整仿真或端到端系统延迟。</a:t>
            </a:r>
            <a:endParaRPr sz="1600">
              <a:solidFill>
                <a:srgbClr val="5965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8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65576" y="1069185"/>
            <a:ext cx="2060848" cy="551974"/>
          </a:xfrm>
          <a:prstGeom prst="rect">
            <a:avLst/>
          </a:prstGeom>
        </p:spPr>
      </p:pic>
      <p:sp>
        <p:nvSpPr>
          <p:cNvPr id="4" name="Oval 3"/>
          <p:cNvSpPr>
            <a:spLocks noGrp="1"/>
          </p:cNvSpPr>
          <p:nvPr/>
        </p:nvSpPr>
        <p:spPr>
          <a:xfrm>
            <a:off x="68072" y="123952"/>
            <a:ext cx="566928" cy="566928"/>
          </a:xfrm>
          <a:prstGeom prst="ellipse">
            <a:avLst/>
          </a:prstGeom>
          <a:noFill/>
          <a:ln w="215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04648" y="160528"/>
            <a:ext cx="493776" cy="49377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A8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44728" y="151384"/>
            <a:ext cx="320040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中国软件杯 · A组赛题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0" y="173736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27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成果总结</a:t>
            </a:r>
            <a:endParaRPr sz="2700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381250" y="228981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功能完整、证据充分、边界明确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90750" y="2899410"/>
            <a:ext cx="7810500" cy="19050"/>
          </a:xfrm>
          <a:prstGeom prst="rect">
            <a:avLst/>
          </a:prstGeom>
          <a:solidFill>
            <a:srgbClr val="FFC000"/>
          </a:solidFill>
          <a:ln w="0">
            <a:solidFill>
              <a:srgbClr val="FFC00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43000" y="316611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2175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20组</a:t>
            </a:r>
            <a:endParaRPr sz="2175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43000" y="364236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20组随机参数同条件对照验证中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位置RMSE低于官方PID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67250" y="316611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2175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12.16%</a:t>
            </a:r>
            <a:endParaRPr sz="2175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67250" y="364236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三事件外力扰动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全时域位置RMSE降幅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91500" y="316611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2175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2.04 s → 0 s</a:t>
            </a:r>
            <a:endParaRPr sz="2175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91500" y="364236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PP-CBF近距离交汇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风险暴露时间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524125" y="4451985"/>
            <a:ext cx="714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相对升级前主算法，18项既有任务全部无退化；决赛新增角扰动验证完成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000375" y="502348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驭穹稳控团队  |  西安交通大学  |  2026年8月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2670810" y="21590"/>
            <a:ext cx="6997065" cy="46609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marR="0" lvl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>
                <a:ln>
                  <a:noFill/>
                </a:ln>
                <a:gradFill rotWithShape="1">
                  <a:gsLst>
                    <a:gs pos="0">
                      <a:srgbClr val="FFC000">
                        <a:lumMod val="60000"/>
                        <a:lumOff val="40000"/>
                      </a:srgbClr>
                    </a:gs>
                    <a:gs pos="100000">
                      <a:prstClr val="white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感谢评审老师观看与指导</a:t>
            </a:r>
            <a:endParaRPr sz="3200" b="1">
              <a:ln>
                <a:noFill/>
              </a:ln>
              <a:gradFill flip="none" rotWithShape="1">
                <a:gsLst>
                  <a:gs pos="0">
                    <a:srgbClr val="FFC000">
                      <a:lumMod val="60000"/>
                      <a:lumOff val="40000"/>
                    </a:srgbClr>
                  </a:gs>
                  <a:gs pos="100000">
                    <a:prstClr val="white"/>
                  </a:gs>
                </a:gsLst>
                <a:lin ang="54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Arial Black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Arial Black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3988</Words>
  <Application>WPS 演示</Application>
  <PresentationFormat>Converted Presentation</PresentationFormat>
  <Paragraphs>619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方正公文小标宋</vt:lpstr>
      <vt:lpstr>KSOF81EDA403</vt:lpstr>
      <vt:lpstr>AMGDT</vt:lpstr>
      <vt:lpstr>Arial Black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Vincent</cp:lastModifiedBy>
  <cp:revision>2</cp:revision>
  <dcterms:created xsi:type="dcterms:W3CDTF">2026-08-17T15:40:05Z</dcterms:created>
  <dcterms:modified xsi:type="dcterms:W3CDTF">2026-08-17T15:43:28Z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6E18E26F09CB4E229F34DD89FDB19178_12</vt:lpwstr>
  </property>
  <property fmtid="{D5CDD505-2E9C-101B-9397-08002B2CF9AE}" pid="3" name="KSOProductBuildVer">
    <vt:lpwstr>2052-12.1.0.28043</vt:lpwstr>
  </property>
</Properties>
</file>